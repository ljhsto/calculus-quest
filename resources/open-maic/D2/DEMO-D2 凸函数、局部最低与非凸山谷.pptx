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完成了刚才的直觉挑战，大家可能已经发现，有些优化路径一眼就能看到底，而有些却让人迷惑。现在，让我们通过这张知识地图，正式开启今天的学习路线。
本节课的核心在于掌握两种基本形态：首先是直观的凸函数 (Convex Function)，我们可以把它想象成一个完美的碗；然后是充满挑战的非凸 (Non-convex) 情况。我们会深入探讨局部最低 (Local Minimum) 与全局最低之间的博弈。
大家看这张路线图，我们将从形态识别开始，逐步理解为什么在特定条件下‘局部即全局’。特别是我们要一起观察，优化时的起始点选择是如何像‘滚下山谷’一样，决定了我们最终能到达哪里。
所以，大家今天的任务就是：学会识别这些地形，并能解释‘局部即全局’的数学逻辑，同时探索不同起点对结果的神奇影响。
为了让理论不再枯燥，助教小优特意准备了 9 个探究任务。我们不会只看公式，而是要通过互动实验，像玩游戏一样直观地掌握这些优化理论。准备好了吗？让我们进入第一个地形——凸碗形地形的探索！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刚才我们通过直觉感受了小球滚落的过程。现在，我们需要把这些生动的画面转化为严谨的数学语言。这一页，我们将正式完成从“直觉”到“公式”的桥接。
首先来看凸函数 (Convex Function) 的定义。大家看这个公式，虽然看起来有点复杂，但它的几何意义非常简单：如果你在函数图像上任取两点连成一条线，这条线段永远会处在曲线的上方。这正是我们之前在“凸碗形地形”中看到的那个完美的碗状结构。
接着，我们需要一个工具来指引方向，这就是梯度 (Gradient)，记作倒三角符号。它在优化过程中扮演着极其重要的角色。
梯度就像是一个指南针，它指出了函数值增长最快的方向。而我们优化的目标是寻找最小值，所以我们会反着它的方向走，去寻找那个“下山”最快的路径。
结合这张图我们可以清晰地看到，数学符号与物理地形是完美对应的。掌握了这些符号，我们就拥有了观察地形的“数学眼睛”。
最后，请大家务必留意这个风险警示。如果不能正确识别地形，盲目顺着梯度下山，就很容易陷入我们刚才讨论过的“局部最低点”陷阱。接下来，我们将通过一张全景图，来理清这些概念之间的深度联系。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刚才我们亲手操作了路径在盆地中的演化过程，感觉非常直观。现在，让我们进入复盘环节，进行一次知识完整性检查，确保刚才学到的直觉都能沉淀为核心理解。
大家回想一下：当我们面对凸函数 (Convex) 时，地形就像一个完美的碗，无论从哪出发都能直达谷底；但在非凸 (Non-convex) 地形中，情况就复杂了，需要我们进行多次尝试，才能找到真正的全局最优解。
这一路上，我们的地形从最初 Scene 3 那个简单的“碗”，演变成了 Scene 11 中复杂的“盆地”。在这个过程中，最需要警惕的就是局部最低 (Local Minimum) 这个“优化陷阱”，它会让我们误以为已经到达了目标。
不论是离散的寻径，还是连续的下滑，优化的核心直觉始终如一：那就是顺着斜坡，去寻找那个最低点。这种直觉是我们处理后续复杂公式的基石。
请大家对照屏幕上的清单快速回顾。刚才的实验中，如果你对某个概念还有疑虑，现在就是最好的提问时机。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知识地图与学习路线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377440" cy="36576"/>
          </a:xfrm>
          <a:custGeom>
            <a:avLst/>
            <a:gdLst/>
            <a:ahLst/>
            <a:cxnLst/>
            <a:rect l="l" t="t" r="r" b="b"/>
            <a:pathLst>
              <a:path w="2377440" h="36576">
                <a:moveTo>
                  <a:pt x="0" y="0"/>
                </a:moveTo>
                <a:lnTo>
                  <a:pt x="2377440" y="0"/>
                </a:lnTo>
                <a:lnTo>
                  <a:pt x="23774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84048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核心点：直觉与挑战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凸函数 (Convex Function) 直觉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非凸 (Non-convex) 优化挑战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局部与全局最低 (Local/Global Minimum)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384048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识别形态，理解“局部即全局”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探索优化起点对结果的影响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3931920" cy="22128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3794760"/>
            <a:ext cx="3931920" cy="859536"/>
          </a:xfrm>
          <a:custGeom>
            <a:avLst/>
            <a:gdLst/>
            <a:ahLst/>
            <a:cxnLst/>
            <a:rect l="l" t="t" r="r" b="b"/>
            <a:pathLst>
              <a:path w="3931920" h="859536">
                <a:moveTo>
                  <a:pt x="0" y="0"/>
                </a:moveTo>
                <a:lnTo>
                  <a:pt x="3931920" y="0"/>
                </a:lnTo>
                <a:lnTo>
                  <a:pt x="3931920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5"/>
          <p:cNvSpPr/>
          <p:nvPr/>
        </p:nvSpPr>
        <p:spPr>
          <a:xfrm>
            <a:off x="4846320" y="3886200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互动实验：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9 个探究任务，像“滚下山谷”一样直观掌握优化理论。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核心框架与公式桥接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25296"/>
            <a:ext cx="2743200" cy="36576"/>
          </a:xfrm>
          <a:custGeom>
            <a:avLst/>
            <a:gdLst/>
            <a:ahLst/>
            <a:cxnLst/>
            <a:rect l="l" t="t" r="r" b="b"/>
            <a:pathLst>
              <a:path w="2743200" h="36576">
                <a:moveTo>
                  <a:pt x="0" y="0"/>
                </a:moveTo>
                <a:lnTo>
                  <a:pt x="2743200" y="0"/>
                </a:lnTo>
                <a:lnTo>
                  <a:pt x="27432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40233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凸函数 (Convex Function) 定义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6" name="Formula 0"/>
              <p:cNvSpPr/>
              <p:nvPr/>
            </p:nvSpPr>
            <p:spPr>
              <a:xfrm>
                <a:off x="731520" y="2057400"/>
                <a:ext cx="36576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f(θx+(1−θ)y)≤θf(x)+(1−θ)f(y)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Formula 0"/>
              <p:cNvSpPr/>
              <p:nvPr/>
            </p:nvSpPr>
            <p:spPr>
              <a:xfrm>
                <a:off x="731520" y="2057400"/>
                <a:ext cx="36576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7" name="Text 3"/>
          <p:cNvSpPr/>
          <p:nvPr/>
        </p:nvSpPr>
        <p:spPr>
          <a:xfrm>
            <a:off x="548640" y="2880360"/>
            <a:ext cx="40233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常见符号：梯度 (Gradient)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8" name="Formula 1"/>
              <p:cNvSpPr/>
              <p:nvPr/>
            </p:nvSpPr>
            <p:spPr>
              <a:xfrm>
                <a:off x="731520" y="3383280"/>
                <a:ext cx="548640" cy="45720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2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∇f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Formula 1"/>
              <p:cNvSpPr/>
              <p:nvPr/>
            </p:nvSpPr>
            <p:spPr>
              <a:xfrm>
                <a:off x="731520" y="3383280"/>
                <a:ext cx="548640" cy="45720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9" name="Text 4"/>
          <p:cNvSpPr/>
          <p:nvPr/>
        </p:nvSpPr>
        <p:spPr>
          <a:xfrm>
            <a:off x="1371600" y="3383280"/>
            <a:ext cx="32004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决定了“下山”的最快方向</a:t>
            </a:r>
            <a:endParaRPr lang="en-US" sz="1152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54480"/>
            <a:ext cx="3749040" cy="211226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48640" y="4114800"/>
            <a:ext cx="8046720" cy="749808"/>
          </a:xfrm>
          <a:custGeom>
            <a:avLst/>
            <a:gdLst/>
            <a:ahLst/>
            <a:cxnLst/>
            <a:rect l="l" t="t" r="r" b="b"/>
            <a:pathLst>
              <a:path w="8046720" h="749808">
                <a:moveTo>
                  <a:pt x="0" y="0"/>
                </a:moveTo>
                <a:lnTo>
                  <a:pt x="8046720" y="0"/>
                </a:lnTo>
                <a:lnTo>
                  <a:pt x="804672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2" name="Text 6"/>
          <p:cNvSpPr/>
          <p:nvPr/>
        </p:nvSpPr>
        <p:spPr>
          <a:xfrm>
            <a:off x="914400" y="4261104"/>
            <a:ext cx="73152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风险警示：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如果不能识别地形，盲目下山可能导致失败。</a:t>
            </a:r>
            <a:endParaRPr lang="en-US" sz="1152" dirty="0"/>
          </a:p>
        </p:txBody>
      </p:sp>
      <p:sp>
        <p:nvSpPr>
          <p:cNvPr id="13" name="Shape 7"/>
          <p:cNvSpPr/>
          <p:nvPr/>
        </p:nvSpPr>
        <p:spPr>
          <a:xfrm>
            <a:off x="731520" y="4251960"/>
            <a:ext cx="36576" cy="457200"/>
          </a:xfrm>
          <a:custGeom>
            <a:avLst/>
            <a:gdLst/>
            <a:ahLst/>
            <a:cxnLst/>
            <a:rect l="l" t="t" r="r" b="b"/>
            <a:pathLst>
              <a:path w="36576" h="457200">
                <a:moveTo>
                  <a:pt x="0" y="0"/>
                </a:moveTo>
                <a:lnTo>
                  <a:pt x="36576" y="0"/>
                </a:lnTo>
                <a:lnTo>
                  <a:pt x="36576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9731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复盘：知识完整性检查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57276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凸函数 (Convex)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：一次搞定，直达谷底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非凸 (Non-convex)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：多次尝试，寻找全局解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67004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地形演变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：从“碗”到复杂“盆地”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局部最低 (Local Minimum)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：警惕优化陷阱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76732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优化直觉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：离散寻径 vs. 连续下滑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核心本质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：顺着斜坡寻找最低点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801368"/>
            <a:ext cx="3657600" cy="2057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3931920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实验回顾：检查你的学习清单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2026-06-06T09:13:46Z</dcterms:created>
  <dcterms:modified xsi:type="dcterms:W3CDTF">2026-06-06T09:13:46Z</dcterms:modified>
</cp:coreProperties>
</file>