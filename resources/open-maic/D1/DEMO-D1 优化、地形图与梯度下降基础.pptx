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刚才通过前测，大家已经初步感受到了优化问题的直观表现。现在，我们要正式开启本节课的知识航程。请看这张知识地图，它将指引我们如何从直觉迈向严谨的数学建模。
我们首先要明确的是核心概念。任何优化问题都离不开决策变量、约束条件和目标函数这‘三要素’。这就像我们在下山时，需要决定迈多大的步子，同时要遵守不能跳崖的‘约束’，最终达到海拔最低的‘目标’。
为了实现这个目标，我们会重点攻克这个数学核心：梯度下降（Gradient Descent）迭代公式。浩然，你可能会注意到公式中的负号，它代表了我们始终沿着梯度的反方向，也就是最陡峭的下坡方向前进。
此外，我们还会深入探讨学习率（Learning Rate）的设置。智小助稍后会协助大家在互动实验中观察，不同的学习率是如何导致收敛加速或者产生震荡的。
为了让大家彻底掌握这些理论，整个课程设计了9个核心互动场景。嘉嘉，这些场景会把抽象的损失函数变成可感知的‘地形探索’。下面，我们就从构建优化的思维框架开始，先来玩一个小小的分类游戏。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刚才我们探讨了驻点的判定，但在实际的机器学习任务中，目标函数往往极其复杂，很难通过解析法直接求解。现在，我们要把这种几何直觉转化为严谨的算法——即梯度下降（Gradient Descent）的核心框架。
首先是“迭代”（Iteration）的思想。正如嘉嘉刚才想到的“下山”场景，当我们无法一眼看到全局最低点时，最稳妥的方法就是通过不断地小步移动来逐渐接近目标。这在算法中表现为一种循环更新的过程。
请看这里的核心逻辑：新位置等于旧位置加上一个步更新。而更新的本质，就是步长乘以搜索方向。为了确保我们是在“下山”，我们必须选择负梯度的方向，因为梯度本身指向的是函数增长最快的方向。
我们将这一逻辑浓缩为这个经典的数学公式。浩然，你一定注意到了这里的减号，它正是“负梯度”的具体体现。通过 $x_{old}$ 减去梯度项，我们强迫点向着函数值减小的方向移动。
公式中的 $alpha$ 被称为学习率（Learning Rate）。它就像是一个步长调节器，决定了我们每一步跨出的幅度。学习率的大小选择非常关键，这直接关系到我们能否精准且快速地锁定最低点。
理解了公式的构造，大家是否想过：如果程序运行到了一个导数为 0 的点，也就是我们之前讨论过的驻点，这个公式会发生什么？新位置 $x_{new}$ 还会变化吗？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刚才我们详细观察了算法在满足条件后停止的过程，现在让我们把视野拉高，对整个“梯度下降”（Gradient Descent）的知识地图进行一次深度的复盘与收拢。
请大家再次关注优化三要素：在代码实现中，目标函数定义了我们要寻找的终点，决策变量是不断迭代更新的状态，而步长控制，也就是我们反复强调的学习率（Learning Rate），则直接决定了我们下山的节奏是否稳健。
在收敛性分析层面，我们要补齐一个理论短板：算法并非万能。初始点的选择往往决定了我们的命运。如果起点不佳，我们可能会陷入局部最优（Local Optima）的陷阱，而无法触达真正的全局最优（Global Optima）。这种对初始值的依赖，是梯度下降法最核心的物理特性之一。
最后，所有的物理直觉最终都凝结在这个优雅的核心公式里。当前位置 $x_k$ 减去带权重的梯度方向，就推导出了下一步的坐标 $x_{k+1}$。这个减号，本质上就是我们对‘最快下山方向’的坚定追随。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知识地图与学习路线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023360" cy="22631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0" y="1508760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核心概念与目标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02920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优化三要素：决策变量、约束与目标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地形图：直观理解损失函数曲面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学习率 (Learning Rate)：迭代步长控制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数值执行：从数学建模到机器求解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8" name="Formula 0"/>
              <p:cNvSpPr/>
              <p:nvPr/>
            </p:nvSpPr>
            <p:spPr>
              <a:xfrm>
                <a:off x="5029200" y="3291840"/>
                <a:ext cx="35661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n+1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−etacdotablaf(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Formula 0"/>
              <p:cNvSpPr/>
              <p:nvPr/>
            </p:nvSpPr>
            <p:spPr>
              <a:xfrm>
                <a:off x="5029200" y="3291840"/>
                <a:ext cx="35661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9" name="Shape 4"/>
          <p:cNvSpPr/>
          <p:nvPr/>
        </p:nvSpPr>
        <p:spPr>
          <a:xfrm>
            <a:off x="548640" y="411480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5"/>
          <p:cNvSpPr/>
          <p:nvPr/>
        </p:nvSpPr>
        <p:spPr>
          <a:xfrm>
            <a:off x="731520" y="424281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互动导航：通过 9 个核心场景逐步攻克理论难点</a:t>
            </a:r>
            <a:endParaRPr lang="en-US" sz="1152" dirty="0"/>
          </a:p>
        </p:txBody>
      </p:sp>
      <p:sp>
        <p:nvSpPr>
          <p:cNvPr id="11" name="Shape 6"/>
          <p:cNvSpPr/>
          <p:nvPr/>
        </p:nvSpPr>
        <p:spPr>
          <a:xfrm>
            <a:off x="914400" y="4709160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 h="0">
                <a:moveTo>
                  <a:pt x="0" y="0"/>
                </a:moveTo>
                <a:lnTo>
                  <a:pt x="7315200" y="0"/>
                </a:lnTo>
              </a:path>
            </a:pathLst>
          </a:custGeom>
          <a:noFill/>
          <a:ln w="27432">
            <a:solidFill>
              <a:srgbClr val="5B9BD5"/>
            </a:solidFill>
            <a:prstDash val="solid"/>
            <a:headEnd type="arrow"/>
            <a:tailEnd type="arrow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核心框架与公式桥接：从直觉到算法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389120" cy="36576"/>
          </a:xfrm>
          <a:custGeom>
            <a:avLst/>
            <a:gdLst/>
            <a:ahLst/>
            <a:cxnLst/>
            <a:rect l="l" t="t" r="r" b="b"/>
            <a:pathLst>
              <a:path w="4389120" h="36576">
                <a:moveTo>
                  <a:pt x="0" y="0"/>
                </a:moveTo>
                <a:lnTo>
                  <a:pt x="4389120" y="0"/>
                </a:lnTo>
                <a:lnTo>
                  <a:pt x="43891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37160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迭代思想 (Iteration)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41148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核心逻辑：新位置 = 旧位置 + 步更新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更新本质：步长 × 搜索方向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最佳方向：负梯度方向 (最快下降)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8046720" cy="1371600"/>
          </a:xfrm>
          <a:custGeom>
            <a:avLst/>
            <a:gdLst/>
            <a:ahLst/>
            <a:cxnLst/>
            <a:rect l="l" t="t" r="r" b="b"/>
            <a:pathLst>
              <a:path w="8046720" h="1371600">
                <a:moveTo>
                  <a:pt x="0" y="0"/>
                </a:moveTo>
                <a:lnTo>
                  <a:pt x="8046720" y="0"/>
                </a:lnTo>
                <a:lnTo>
                  <a:pt x="804672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383280"/>
            <a:ext cx="36576" cy="1371600"/>
          </a:xfrm>
          <a:custGeom>
            <a:avLst/>
            <a:gdLst/>
            <a:ahLst/>
            <a:cxnLst/>
            <a:rect l="l" t="t" r="r" b="b"/>
            <a:pathLst>
              <a:path w="36576" h="1371600">
                <a:moveTo>
                  <a:pt x="0" y="0"/>
                </a:moveTo>
                <a:lnTo>
                  <a:pt x="36576" y="0"/>
                </a:lnTo>
                <a:lnTo>
                  <a:pt x="3657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474720"/>
            <a:ext cx="22860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梯度下降迭代公式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0" name="Formula 0"/>
              <p:cNvSpPr/>
              <p:nvPr/>
            </p:nvSpPr>
            <p:spPr>
              <a:xfrm>
                <a:off x="2743200" y="374904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new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old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−α⋅</m:t>
                      </m:r>
                      <m:sSup>
                        <m:s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old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0"/>
              <p:cNvSpPr/>
              <p:nvPr/>
            </p:nvSpPr>
            <p:spPr>
              <a:xfrm>
                <a:off x="2743200" y="374904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1" name="Text 7"/>
          <p:cNvSpPr/>
          <p:nvPr/>
        </p:nvSpPr>
        <p:spPr>
          <a:xfrm>
            <a:off x="2743200" y="438912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(Learning Rate) : 学习率，决定更新步长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复盘：知识完整性收拢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优化三要素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目标函数：优化的终点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决策变量：迭代更新的状态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步长控制：Learning Rate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64592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收敛性分析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74720" y="228600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局部最优 (Local Optima)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全局最优 (Global Optima)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初始点决定搜索路径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35040" y="1463040"/>
            <a:ext cx="2560320" cy="3200400"/>
          </a:xfrm>
          <a:custGeom>
            <a:avLst/>
            <a:gdLst/>
            <a:ahLst/>
            <a:cxnLst/>
            <a:rect l="l" t="t" r="r" b="b"/>
            <a:pathLst>
              <a:path w="2560320" h="3200400">
                <a:moveTo>
                  <a:pt x="0" y="0"/>
                </a:moveTo>
                <a:lnTo>
                  <a:pt x="2560320" y="0"/>
                </a:lnTo>
                <a:lnTo>
                  <a:pt x="2560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64592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核心公式总结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17920" y="2194560"/>
            <a:ext cx="21945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梯度下降迭代式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4" name="Formula 0"/>
              <p:cNvSpPr/>
              <p:nvPr/>
            </p:nvSpPr>
            <p:spPr>
              <a:xfrm>
                <a:off x="6217920" y="2743200"/>
                <a:ext cx="219456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k+1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</m:t>
                      </m:r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α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∇f(</m:t>
                      </m:r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Formula 0"/>
              <p:cNvSpPr/>
              <p:nvPr/>
            </p:nvSpPr>
            <p:spPr>
              <a:xfrm>
                <a:off x="6217920" y="2743200"/>
                <a:ext cx="219456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5" name="Text 11"/>
          <p:cNvSpPr/>
          <p:nvPr/>
        </p:nvSpPr>
        <p:spPr>
          <a:xfrm>
            <a:off x="621792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$\alpha_k$: 学习率 (Learning Rate)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$\nabla f$: 梯度方向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2026-06-06T08:52:12Z</dcterms:created>
  <dcterms:modified xsi:type="dcterms:W3CDTF">2026-06-06T08:52:12Z</dcterms:modified>
</cp:coreProperties>
</file>