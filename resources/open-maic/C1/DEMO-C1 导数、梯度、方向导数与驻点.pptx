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刚才大家通过直觉扫描对山坡地形有了初步的感觉。现在，让我们正式开启本节课的“导航仪”——一起看一看这张全景式的知识地图与学习路线。
在核心概念模块，我们将实现从一元斜率到多元梯度的重要跨越。这不仅仅是维度的增加，更是思维方式的升级。
我们要搞清楚：导数为零在直观上意味着什么？在多维空间里，哪个方向上升最快？以及我们如何描述任意方向的变化率。这些就是我们将要攻克的梯度向量、方向导数以及驻点与鞍点等关键点。
大家看这里，逻辑的起点依然是我们高一学过的一元函数极值。只有地基打牢了，我们才能在更高维度的“山峰”上行走自如。
我们的进阶路线非常明确：先从“山坡比喻”获得直觉，接着进行严谨的公式推导，再通过等高线图进行几何建模，最后迎接挑战应用。志明，你会发现几何直觉在这里非常有用；雅琪，后面会有复杂的系统图让你发挥整理才华。
这堂课的终极目标，就是让大家掌握如何利用导数工具，在复杂的地形中精准寻找“最优解”。好了，话不多说，让我们先从复习一元极值的斜率开始吧！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刚才我们通过动手练习，对梯度的方向有了感性认识。现在，让我们把这些碎片化的发现整合起来，用严谨的数学语言建立起核心框架，完成从直觉到公式的桥接。
首先来看梯度的正式定义。$
abla f$ 是一个由各个变量的偏导数组成的向量，它精准捕捉了函数在每个坐标轴方向上的瞬时变化率。
这里有两个细节需要注意：首先，根据我们课程的约定，梯度统一采用行向量形式书写；其次，在物理意义上，它始终指向函数增长最快的方向，也就是坡度最陡的方向。
有了梯度这个利器，计算任意方向的变化就容易了。观察这个公式，方向导数 $D_u f$ 实际上就是梯度向量与方向向量 $u$ 的点积。
这个点积的本质，就是梯度在方向向量上的投影。它将复杂的多元函数进行了局部线性化处理，是我们理解函数局部变化的关键。
最后，林老师要特别提醒大家：偏导数的计算是所有后续分析的基石。如果偏导数算不准，我们后面要学习的驻点分析将无法开展。请同学们务必在练习中打好基础。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好了，梳理完刚才的逻辑链，我们现在进入“复盘自测”环节。这一页就像是一个安全网，帮我们核对在刚才的探索中是否漏掉了任何核心知识点。
大家看这份检查清单。首先是我们在第三页练习过的一元函数极值，核心在于斜率扫描和符号变化；接着是在第四页和第九页挑战赛中建立的梯度直觉——它永远指向函数增长最快的方向。另外，请大家特别留意清单最后一项：在我们的计算约定中，梯度通常记为行向量，这在后续查阅 PDF 资料时要保持一致。
有了梯度的直觉，我们就能理解梯度下降的迭代逻辑了。利用负梯度的方向，我们可以像在迷雾中下山一样，一步步逼近函数的极小值点。
而在刚才第十页的 3D 模拟中，我们已经通过计算偏导数来确定多元函数的驻点了。这时候要分清驻点、极值点以及那些长得像马鞍一样的鞍点。
最后，林老师要特别提醒大家：在解决实际应用题时，千万记得检查定义域的边界。导数只能告诉我们平滑区域的坡度，却无法捕捉到不连续点或定义域边缘的极值情况。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知识地图与学习路线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核心概念模块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1901952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一元极值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：导数为零的直观意义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梯度向量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：多维空间的最快上升方向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方向导数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：任意方向的变化速率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驻点与鞍点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：复杂地形的特殊点判别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学习进阶路线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731520" y="3822192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直觉感知 (山坡比喻) → 公式推导 (梯度计算) 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几何建模 (等高线图) → 挑战应用 (最优化)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4617720"/>
            <a:ext cx="3840480" cy="365760"/>
          </a:xfrm>
          <a:custGeom>
            <a:avLst/>
            <a:gdLst/>
            <a:ahLst/>
            <a:cxnLst/>
            <a:rect l="l" t="t" r="r" b="b"/>
            <a:pathLst>
              <a:path w="3840480" h="365760">
                <a:moveTo>
                  <a:pt x="0" y="0"/>
                </a:moveTo>
                <a:lnTo>
                  <a:pt x="3840480" y="0"/>
                </a:lnTo>
                <a:lnTo>
                  <a:pt x="384048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0288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目标：掌握利用导数工具在复杂地形中寻找“最优解”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566160"/>
            <a:ext cx="38404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全景逻辑：从一元斜率到多元梯度</a:t>
            </a:r>
            <a:endParaRPr lang="en-US" sz="1152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977640"/>
            <a:ext cx="1645920" cy="10972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4343400"/>
            <a:ext cx="13716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回顾起点：一元函数极值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核心框架与公式桥接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9319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梯度 (Gradient) 的定义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6" name="Formula 0"/>
              <p:cNvSpPr/>
              <p:nvPr/>
            </p:nvSpPr>
            <p:spPr>
              <a:xfrm>
                <a:off x="548640" y="2103120"/>
                <a:ext cx="39319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∇f=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∂f</m:t>
                              </m:r>
                            </m:num>
                            <m:den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∂x</m:t>
                              </m:r>
                            </m:den>
                          </m:f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,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∂f</m:t>
                              </m:r>
                            </m:num>
                            <m:den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∂y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6" name="Formula 0"/>
              <p:cNvSpPr/>
              <p:nvPr/>
            </p:nvSpPr>
            <p:spPr>
              <a:xfrm>
                <a:off x="548640" y="2103120"/>
                <a:ext cx="39319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7" name="Text 3"/>
          <p:cNvSpPr/>
          <p:nvPr/>
        </p:nvSpPr>
        <p:spPr>
          <a:xfrm>
            <a:off x="548640" y="3017520"/>
            <a:ext cx="39319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符号约定：采用行向量形式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物理意义：函数增长最快的方向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663440" y="1463040"/>
            <a:ext cx="39319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方向导数的投影关系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9" name="Formula 1"/>
              <p:cNvSpPr/>
              <p:nvPr/>
            </p:nvSpPr>
            <p:spPr>
              <a:xfrm>
                <a:off x="4663440" y="2103120"/>
                <a:ext cx="39319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D</m:t>
                          </m:r>
                        </m:e>
                        <m:sub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𝐮</m:t>
                          </m:r>
                        </m:sub>
                      </m:sSub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f=∇f⋅𝐮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Formula 1"/>
              <p:cNvSpPr/>
              <p:nvPr/>
            </p:nvSpPr>
            <p:spPr>
              <a:xfrm>
                <a:off x="4663440" y="2103120"/>
                <a:ext cx="39319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0" name="Text 5"/>
          <p:cNvSpPr/>
          <p:nvPr/>
        </p:nvSpPr>
        <p:spPr>
          <a:xfrm>
            <a:off x="4663440" y="3017520"/>
            <a:ext cx="39319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本质：梯度在方向向量上的投影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关联：将多元函数局部线性化</a:t>
            </a:r>
            <a:endParaRPr lang="en-US" sz="1152" dirty="0"/>
          </a:p>
        </p:txBody>
      </p:sp>
      <p:sp>
        <p:nvSpPr>
          <p:cNvPr id="11" name="Shape 6"/>
          <p:cNvSpPr/>
          <p:nvPr/>
        </p:nvSpPr>
        <p:spPr>
          <a:xfrm>
            <a:off x="548640" y="411480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FF5F5"/>
          </a:solidFill>
          <a:ln/>
        </p:spPr>
      </p:sp>
      <p:sp>
        <p:nvSpPr>
          <p:cNvPr id="12" name="Shape 7"/>
          <p:cNvSpPr/>
          <p:nvPr/>
        </p:nvSpPr>
        <p:spPr>
          <a:xfrm>
            <a:off x="548640" y="4114800"/>
            <a:ext cx="45720" cy="731520"/>
          </a:xfrm>
          <a:custGeom>
            <a:avLst/>
            <a:gdLst/>
            <a:ahLst/>
            <a:cxnLst/>
            <a:rect l="l" t="t" r="r" b="b"/>
            <a:pathLst>
              <a:path w="45720" h="731520">
                <a:moveTo>
                  <a:pt x="0" y="0"/>
                </a:moveTo>
                <a:lnTo>
                  <a:pt x="45720" y="0"/>
                </a:lnTo>
                <a:lnTo>
                  <a:pt x="45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56565"/>
          </a:solidFill>
          <a:ln/>
        </p:spPr>
      </p:sp>
      <p:sp>
        <p:nvSpPr>
          <p:cNvPr id="13" name="Text 8"/>
          <p:cNvSpPr/>
          <p:nvPr/>
        </p:nvSpPr>
        <p:spPr>
          <a:xfrm>
            <a:off x="777240" y="4251960"/>
            <a:ext cx="75895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若不掌握偏导计算，将无法进行后续的驻点 (Stationary Point) 分析。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复盘自测：梯度与极值核心检查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70432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4023360" cy="3108960"/>
          </a:xfrm>
          <a:custGeom>
            <a:avLst/>
            <a:gdLst/>
            <a:ahLst/>
            <a:cxnLst/>
            <a:rect l="l" t="t" r="r" b="b"/>
            <a:pathLst>
              <a:path w="4023360" h="3108960">
                <a:moveTo>
                  <a:pt x="0" y="0"/>
                </a:moveTo>
                <a:lnTo>
                  <a:pt x="4023360" y="0"/>
                </a:lnTo>
                <a:lnTo>
                  <a:pt x="402336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91640"/>
            <a:ext cx="3657600" cy="26700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一元极值：斜率扫描与符号变化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梯度直觉：函数增长最快的向量方向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向量约定：行向量计算排布准则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关键点：驻点与鞍点的 3D 形态区分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兜底策略：定义域边界与不连续点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45920"/>
            <a:ext cx="374904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0" y="2194560"/>
            <a:ext cx="374904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梯度下降迭代：利用负梯度方向寻找极小值</a:t>
            </a:r>
            <a:endParaRPr lang="en-US" sz="1152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43200"/>
            <a:ext cx="3749040" cy="7223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46320" y="3520440"/>
            <a:ext cx="374904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多元函数实例：通过偏导数计算确定驻点</a:t>
            </a:r>
            <a:endParaRPr lang="en-US" sz="1152" dirty="0"/>
          </a:p>
        </p:txBody>
      </p:sp>
      <p:sp>
        <p:nvSpPr>
          <p:cNvPr id="11" name="Shape 6"/>
          <p:cNvSpPr/>
          <p:nvPr/>
        </p:nvSpPr>
        <p:spPr>
          <a:xfrm>
            <a:off x="4846320" y="4114800"/>
            <a:ext cx="36576" cy="548640"/>
          </a:xfrm>
          <a:custGeom>
            <a:avLst/>
            <a:gdLst/>
            <a:ahLst/>
            <a:cxnLst/>
            <a:rect l="l" t="t" r="r" b="b"/>
            <a:pathLst>
              <a:path w="36576" h="548640">
                <a:moveTo>
                  <a:pt x="0" y="0"/>
                </a:moveTo>
                <a:lnTo>
                  <a:pt x="36576" y="0"/>
                </a:lnTo>
                <a:lnTo>
                  <a:pt x="36576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D7D31"/>
          </a:solidFill>
          <a:ln/>
        </p:spPr>
      </p:sp>
      <p:sp>
        <p:nvSpPr>
          <p:cNvPr id="12" name="Text 7"/>
          <p:cNvSpPr/>
          <p:nvPr/>
        </p:nvSpPr>
        <p:spPr>
          <a:xfrm>
            <a:off x="4983480" y="4069080"/>
            <a:ext cx="361188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实际问题中必须检查边界，导数无法捕捉定义域边缘的极值点。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2026-06-06T08:40:37Z</dcterms:created>
  <dcterms:modified xsi:type="dcterms:W3CDTF">2026-06-06T08:40:37Z</dcterms:modified>
</cp:coreProperties>
</file>