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刚刚大家都完成了前测，可能有的同学凭直觉，有的同学凭记忆。现在，让我们正式进入这张“向量地图”，梳理一下从直观的“箭头”到抽象的“坐标”，我们要跨越哪些核心知识点。
在这张地图上，我们梳理了三大模块。首先是基础属性与运算规则。这包括了方向、模长以及平行四边形法则，它们是向量作为“数学工具”的底层逻辑，只有掌握了这些，我们才能在向量空间里自由行走。
林老师想提醒大家，左边的几何建模关注的是箭头的物理意义，这能帮我们建立直观的感受，正如浩然关注的实际应用一样。
而右边的代数运算，则是把向量放入坐标系，通过坐标化简来解决问题，这是佳佳最喜欢的严谨逻辑，也是我们从几何跨越到代数的关键。
最后，我们要重点关注底部的“距离度量”。我们会深入讨论范数与空间距离的联系。明确了这三大版块，我们就有了今天精准导航的路线图。接下来，我们就从最基础的坐标与属性开始探索。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刚才我们通过动手实验，直观感受了向量的伸缩和合成。现在，让我们把这些动态的几何操作提炼成严谨的代数语言。这页总结的公式，就是连接几何直觉与代数运算的‘桥梁’。
首先看线性运算。在坐标系中，向量加法就是对应分量相加。这意味着我们在水平和垂直方向上的位移是各自独立累加的，非常简洁。
而数乘运算则是将缩放系数 $k$ 同时作用于每个分量。这就是我们刚才在实验中看到的，向量在保持方向或反向的前提下，长度发生的倍数变化。
接下来是佳佳非常关注的范数概念。在代数上，我们用这个公式来定义向量的‘长度’。大家仔细看，这本质上就是坐标系里的勾股定理。它为我们定义了空间的度量衡。
最后，请大家观察这张几何形态图。代数定义的范数不仅是一串字符，它还决定了‘单位圆’在不同坐标系下的样貌。有了这些公式，我们就能精准地计算后续导航中的距离偏差了。接下来，我们看看如何用这些公式来充当‘测距仪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经历了前面的探索，现在让我们停下来进行全景复盘。这一节课，我们从向量的几何直观出发，一路走到了复杂的代数运算，是时候把这些知识点进行完整性回收了。
首先，我们对核心公式做一个汇总。这些公式是我们从“图像”跨越到“代数”的桥梁。
看这个范数公式，它源于我们在第七章“测距仪”中的应用，将向量的几何长度转化为坐标的平方和再开方。佳佳，你之前关注的符号表示与几何意义的对应，在这里得到了最直观的体现。
而点积公式则是处理向量间关系的核心，无论是计算夹角还是判断垂直，它都是最高效的代数工具。
接下来，我们看互动回顾。这张表记录了大家在“数乘实验”和“精准导航”两个互动环节中的目标达成度。请大家重点观察自己在误差仪表盘上反馈的数据，思考这些偏差是如何通过调整代数参数来修正的。
最后，我想给出几点解题迁移的提示。浩然，你在做导航挑战时表现出的直觉非常棒，但在面对更复杂的数学问题时，要记得：代数式不仅仅是字母的组合，它在空间中有着确定的几何映射。同时，要学会用动态的思维去观测参数变化对整个向量系统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向量地图：从箭头到坐标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645920"/>
            <a:ext cx="384048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基础属性：方向、模长与单位向量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运算规则：平行四边形法则与数乘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核心度量：内积、距离与范数定义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1655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38328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63016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几何建模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直观理解箭头的物理意义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291840" y="338328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10" name="Text 6"/>
          <p:cNvSpPr/>
          <p:nvPr/>
        </p:nvSpPr>
        <p:spPr>
          <a:xfrm>
            <a:off x="3474720" y="363016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7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代数运算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坐标系下的向量化简计算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6035040" y="3383280"/>
            <a:ext cx="2560320" cy="1188720"/>
          </a:xfrm>
          <a:custGeom>
            <a:avLst/>
            <a:gdLst/>
            <a:ahLst/>
            <a:cxnLst/>
            <a:rect l="l" t="t" r="r" b="b"/>
            <a:pathLst>
              <a:path w="2560320" h="1188720">
                <a:moveTo>
                  <a:pt x="0" y="0"/>
                </a:moveTo>
                <a:lnTo>
                  <a:pt x="2560320" y="0"/>
                </a:lnTo>
                <a:lnTo>
                  <a:pt x="25603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FF9F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0" y="363016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D39E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距离度量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深入理解范数与空间距离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公式总结：从代数运算到几何直观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线性运算 (Linear Operations)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914400" y="192024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𝐮+𝐯=(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u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u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914400" y="192024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mc:AlternateContent xmlns:mc="http://schemas.openxmlformats.org/markup-compatibility/2006">
        <mc:Choice Requires="a14">
          <p:sp>
            <p:nvSpPr>
              <p:cNvPr id="7" name="Formula 1"/>
              <p:cNvSpPr/>
              <p:nvPr/>
            </p:nvSpPr>
            <p:spPr>
              <a:xfrm>
                <a:off x="914400" y="256032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k𝐮=(k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u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,k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u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1"/>
              <p:cNvSpPr/>
              <p:nvPr/>
            </p:nvSpPr>
            <p:spPr>
              <a:xfrm>
                <a:off x="914400" y="256032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3"/>
          <p:cNvSpPr/>
          <p:nvPr/>
        </p:nvSpPr>
        <p:spPr>
          <a:xfrm>
            <a:off x="475488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范数与距离 (Norm)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2"/>
              <p:cNvSpPr/>
              <p:nvPr/>
            </p:nvSpPr>
            <p:spPr>
              <a:xfrm>
                <a:off x="4937760" y="1920240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‖𝐱</m:t>
                      </m:r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‖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Sup>
                            <m:sSubSupPr>
                              <m:ctrlP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1</m:t>
                              </m:r>
                            </m:sub>
                            <m:sup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p>
                          </m:sSubSup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+</m:t>
                          </m:r>
                          <m:sSubSup>
                            <m:sSubSupPr>
                              <m:ctrlP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b>
                            <m:sup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2"/>
              <p:cNvSpPr/>
              <p:nvPr/>
            </p:nvSpPr>
            <p:spPr>
              <a:xfrm>
                <a:off x="4937760" y="1920240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Text 4"/>
          <p:cNvSpPr/>
          <p:nvPr/>
        </p:nvSpPr>
        <p:spPr>
          <a:xfrm>
            <a:off x="4937760" y="274320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定义了向量的几何长度与度量空间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383280"/>
            <a:ext cx="3657600" cy="102412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4526280"/>
            <a:ext cx="73152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几何直观：代数定义的范数决定了单位圆在不同坐标系下的几何形态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全景复盘：知识完整性回收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2588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核心公式汇总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914400" y="1920240"/>
                <a:ext cx="25603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‖"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"‖=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sSupPr>
                              <m:ctrlP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p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+</m:t>
                          </m:r>
                          <m:sSup>
                            <m:sSupPr>
                              <m:ctrlP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y</m:t>
                              </m:r>
                            </m:e>
                            <m:sup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914400" y="1920240"/>
                <a:ext cx="25603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mc:AlternateContent xmlns:mc="http://schemas.openxmlformats.org/markup-compatibility/2006">
        <mc:Choice Requires="a14">
          <p:sp>
            <p:nvSpPr>
              <p:cNvPr id="7" name="Formula 1"/>
              <p:cNvSpPr/>
              <p:nvPr/>
            </p:nvSpPr>
            <p:spPr>
              <a:xfrm>
                <a:off x="4114800" y="1920240"/>
                <a:ext cx="36576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=‖"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"‖‖"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"‖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cos⁡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1"/>
              <p:cNvSpPr/>
              <p:nvPr/>
            </p:nvSpPr>
            <p:spPr>
              <a:xfrm>
                <a:off x="4114800" y="1920240"/>
                <a:ext cx="36576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3"/>
          <p:cNvSpPr/>
          <p:nvPr/>
        </p:nvSpPr>
        <p:spPr>
          <a:xfrm>
            <a:off x="548640" y="265176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互动回顾与迁移</a:t>
            </a:r>
            <a:endParaRPr lang="en-US" sz="115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937760" cy="1371600"/>
        </p:xfrm>
        <a:graphic>
          <a:graphicData uri="http://schemas.openxmlformats.org/drawingml/2006/table">
            <a:tbl>
              <a:tblPr/>
              <a:tblGrid>
                <a:gridCol w="2221992"/>
                <a:gridCol w="27157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学习目标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练习互动环节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向量模长计算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坐标系闯关 · 第一关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夹角与投影分析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动态向量实验 · 综合挑战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5852160" y="3291840"/>
            <a:ext cx="2743200" cy="1371600"/>
          </a:xfrm>
          <a:custGeom>
            <a:avLst/>
            <a:gdLst/>
            <a:ahLst/>
            <a:cxnLst/>
            <a:rect l="l" t="t" r="r" b="b"/>
            <a:pathLst>
              <a:path w="2743200" h="1371600">
                <a:moveTo>
                  <a:pt x="0" y="0"/>
                </a:moveTo>
                <a:lnTo>
                  <a:pt x="2743200" y="0"/>
                </a:lnTo>
                <a:lnTo>
                  <a:pt x="274320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2CC"/>
          </a:solidFill>
          <a:ln/>
        </p:spPr>
      </p:sp>
      <p:sp>
        <p:nvSpPr>
          <p:cNvPr id="11" name="Text 5"/>
          <p:cNvSpPr/>
          <p:nvPr/>
        </p:nvSpPr>
        <p:spPr>
          <a:xfrm>
            <a:off x="6035040" y="3383280"/>
            <a:ext cx="23774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D62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解题迁移提示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6035040" y="3794760"/>
            <a:ext cx="23774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数形结合：代数式映射几何位置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动态思维：观测参数的连续变化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2026-06-06T08:15:38Z</dcterms:created>
  <dcterms:modified xsi:type="dcterms:W3CDTF">2026-06-06T08:15:38Z</dcterms:modified>
</cp:coreProperties>
</file>