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刚才我们通过前测探索了函数的映射直觉，大家已经注意到点 (4, 12) 背后的逻辑。现在，让我们把视野放大，看看本节课的知识全景：我们将如何一步步从感性的‘变化’，跨越到理性的‘数学语言’。
首先是‘函数’。请记住，它不仅是代数式，更是一台‘逻辑机器’。只要给定一个合法的输入，它就会按照确定的规则产生输出。这是我们研究动态世界最基本的工具。
有了机器，我们需要一个舞台来观察它。坐标系就是这个舞台。通过它，抽象的输入输出变化被转化为可见的轨迹，让复杂的数学关系变成了直观的几何图像。
而为了精准地描述图像中变化快慢的特征，我们就需要用到‘斜率’。它是量化变化的数学核心语言，也是我们后续通往微积分殿堂的钥匙。
这张地图展示了我们将要翻越的逻辑阶梯。接下来，我们将通过一系列实验，把这些点连成线，构建起完整的微积分知识体系。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刚才我们通过对比，直观感受了不同函数的“脾气”。现在，我们要把这些直观的图形感受，转化为严谨的数学符号语言，建立起从几何到代数的逻辑桥梁。
首先来看几何直观。当我们在函数图像上取两点并连成线，这条“割线”的倾斜程度，实质上描述了函数在这一特定区间内的平均变化趋势。
为了更精确地量化这种变化，我们引入了代数表达：差分商公式。大家看这个式子，它将我们的观察浓缩成了简洁的数学语言。
在这里，Δy 代表因变量的纵向变化，而 Δx 是自变量的横向跨度。两者的比值，精准地刻画了该区间内的“平均变化率”。
所以，请大家务必记住这个核心逻辑：差分商的代数定义，其几何本质就是割线的斜率。掌握了这一点，我们就拿到了理解动态变化的钥匙。接下来，我们要通过实验来验证这个关系。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刚才我们通过实际背景理解了函数的意义，现在让我们停下来进行一次系统的复盘。在进入后续更复杂的挑战前，确保我们的知识地基足够稳固是非常重要的。
首先，请大家再次看向函数的三要素。我们在前面的实验中反复调整自变量，观察因变量，其实就是在处理定义域、值域和它们之间的对应法则。这三者共同定义了一个完整的函数机器。
接下来是关于斜率的总结。我们在排序大作战和探针实验中已经发现，斜率的正负和零直接决定了函数的走向。
当斜率k大于0时，函数呈现正向变化，图像上升；
k小于0时，则是负向变化，图像下降；
而k等于0则代表水平无变化。这种对“变化方向”的敏感度，是学习微积分的第一步。
大家要注意，微积分的核心逻辑在于研究“变化”。我们正从这种对静态线条的赋值，逐步过渡到研究动态的瞬时变化率。这种思维的转变非常关键。
最后，请大家务必内化这段重点：在深入理解导数之前，必须夯实对函数与斜率的基础认知。若曦，你作为我们的复盘达人，能不能谈谈你对“斜率即变化”这个观点的理解？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知识地图：从变化到语言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474720" cy="731520"/>
          </a:xfrm>
          <a:custGeom>
            <a:avLst/>
            <a:gdLst/>
            <a:ahLst/>
            <a:cxnLst/>
            <a:rect l="l" t="t" r="r" b="b"/>
            <a:pathLst>
              <a:path w="3474720" h="731520">
                <a:moveTo>
                  <a:pt x="0" y="0"/>
                </a:moveTo>
                <a:lnTo>
                  <a:pt x="3474720" y="0"/>
                </a:lnTo>
                <a:lnTo>
                  <a:pt x="3474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82496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：输入转输出的逻辑机器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2286000" y="2286000"/>
            <a:ext cx="0" cy="274320"/>
          </a:xfrm>
          <a:custGeom>
            <a:avLst/>
            <a:gdLst/>
            <a:ahLst/>
            <a:cxnLst/>
            <a:rect l="l" t="t" r="r" b="b"/>
            <a:pathLst>
              <a:path w="0" h="274320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27432">
            <a:solidFill>
              <a:srgbClr val="CBD5E0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548640" y="2560320"/>
            <a:ext cx="3474720" cy="731520"/>
          </a:xfrm>
          <a:custGeom>
            <a:avLst/>
            <a:gdLst/>
            <a:ahLst/>
            <a:cxnLst/>
            <a:rect l="l" t="t" r="r" b="b"/>
            <a:pathLst>
              <a:path w="3474720" h="731520">
                <a:moveTo>
                  <a:pt x="0" y="0"/>
                </a:moveTo>
                <a:lnTo>
                  <a:pt x="3474720" y="0"/>
                </a:lnTo>
                <a:lnTo>
                  <a:pt x="3474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688336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：变化过程的视觉化呈现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2286000" y="3291840"/>
            <a:ext cx="0" cy="274320"/>
          </a:xfrm>
          <a:custGeom>
            <a:avLst/>
            <a:gdLst/>
            <a:ahLst/>
            <a:cxnLst/>
            <a:rect l="l" t="t" r="r" b="b"/>
            <a:pathLst>
              <a:path w="0" h="274320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27432">
            <a:solidFill>
              <a:srgbClr val="CBD5E0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548640" y="3566160"/>
            <a:ext cx="3474720" cy="731520"/>
          </a:xfrm>
          <a:custGeom>
            <a:avLst/>
            <a:gdLst/>
            <a:ahLst/>
            <a:cxnLst/>
            <a:rect l="l" t="t" r="r" b="b"/>
            <a:pathLst>
              <a:path w="3474720" h="731520">
                <a:moveTo>
                  <a:pt x="0" y="0"/>
                </a:moveTo>
                <a:lnTo>
                  <a:pt x="3474720" y="0"/>
                </a:lnTo>
                <a:lnTo>
                  <a:pt x="3474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FFAF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694176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7B34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B34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：量化变化的数学语言</a:t>
            </a:r>
            <a:endParaRPr lang="en-US" sz="1152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554480"/>
            <a:ext cx="4206240" cy="2377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4023360"/>
            <a:ext cx="42062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图：微积分知识体系的关联路径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核心框架：从几何直观到符号语言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389120" cy="27432"/>
          </a:xfrm>
          <a:custGeom>
            <a:avLst/>
            <a:gdLst/>
            <a:ahLst/>
            <a:cxnLst/>
            <a:rect l="l" t="t" r="r" b="b"/>
            <a:pathLst>
              <a:path w="4389120" h="27432">
                <a:moveTo>
                  <a:pt x="0" y="0"/>
                </a:moveTo>
                <a:lnTo>
                  <a:pt x="4389120" y="0"/>
                </a:lnTo>
                <a:lnTo>
                  <a:pt x="43891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几何观察：割线斜率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291840" cy="19476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割线倾斜程度描述了函数在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[x₀, x₀+δx] 范围内的平均变化趋势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754880" y="137160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代数表达：差分商公式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0"/>
              <p:cNvSpPr/>
              <p:nvPr/>
            </p:nvSpPr>
            <p:spPr>
              <a:xfrm>
                <a:off x="4754880" y="2011680"/>
                <a:ext cx="3840480" cy="8229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2200"/>
                </a:pPr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a:rPr lang="en-US" i="1" sz="2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δy</m:t>
                          </m:r>
                        </m:num>
                        <m:den>
                          <m:r>
                            <a:rPr lang="en-US" i="1" sz="2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δx</m:t>
                          </m:r>
                        </m:den>
                      </m:f>
                      <m:r>
                        <a:rPr lang="en-US" i="1" sz="2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2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f(x+δx)−f(x)</m:t>
                          </m:r>
                        </m:num>
                        <m:den>
                          <m:r>
                            <a:rPr lang="en-US" i="1" sz="2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δx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0"/>
              <p:cNvSpPr/>
              <p:nvPr/>
            </p:nvSpPr>
            <p:spPr>
              <a:xfrm>
                <a:off x="4754880" y="2011680"/>
                <a:ext cx="3840480" cy="8229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0" name="Text 5"/>
          <p:cNvSpPr/>
          <p:nvPr/>
        </p:nvSpPr>
        <p:spPr>
          <a:xfrm>
            <a:off x="4754880" y="3017520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δy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：因变量增量（纵向变化）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δx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：自变量增量（横向跨度）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比值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：刻画该区间内的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平均变化率</a:t>
            </a:r>
            <a:endParaRPr lang="en-US" sz="1152" dirty="0"/>
          </a:p>
        </p:txBody>
      </p:sp>
      <p:sp>
        <p:nvSpPr>
          <p:cNvPr id="11" name="Shape 6"/>
          <p:cNvSpPr/>
          <p:nvPr/>
        </p:nvSpPr>
        <p:spPr>
          <a:xfrm>
            <a:off x="4754880" y="4297680"/>
            <a:ext cx="3840480" cy="548640"/>
          </a:xfrm>
          <a:custGeom>
            <a:avLst/>
            <a:gdLst/>
            <a:ahLst/>
            <a:cxnLst/>
            <a:rect l="l" t="t" r="r" b="b"/>
            <a:pathLst>
              <a:path w="3840480" h="548640">
                <a:moveTo>
                  <a:pt x="0" y="0"/>
                </a:moveTo>
                <a:lnTo>
                  <a:pt x="3840480" y="0"/>
                </a:lnTo>
                <a:lnTo>
                  <a:pt x="384048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2F2F2"/>
          </a:solidFill>
          <a:ln/>
        </p:spPr>
      </p:sp>
      <p:sp>
        <p:nvSpPr>
          <p:cNvPr id="12" name="Text 7"/>
          <p:cNvSpPr/>
          <p:nvPr/>
        </p:nvSpPr>
        <p:spPr>
          <a:xfrm>
            <a:off x="4846320" y="4352544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桥接核心：差分商的本质就是割线的斜率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复盘：知识完整性兜底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45920"/>
            <a:ext cx="2194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函数三要素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2194560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定义域 (Domain)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值域 (Range)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对应法则 (Rule)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645920"/>
            <a:ext cx="2194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斜率分类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0" name="Formula 0"/>
              <p:cNvSpPr/>
              <p:nvPr/>
            </p:nvSpPr>
            <p:spPr>
              <a:xfrm>
                <a:off x="3566160" y="2331720"/>
                <a:ext cx="548640" cy="3657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0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i="1" sz="10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k&gt;0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Formula 0"/>
              <p:cNvSpPr/>
              <p:nvPr/>
            </p:nvSpPr>
            <p:spPr>
              <a:xfrm>
                <a:off x="3566160" y="2331720"/>
                <a:ext cx="548640" cy="3657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1" name="Text 7"/>
          <p:cNvSpPr/>
          <p:nvPr/>
        </p:nvSpPr>
        <p:spPr>
          <a:xfrm>
            <a:off x="4206240" y="2286000"/>
            <a:ext cx="146304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正向变化 (上升)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2" name="Formula 1"/>
              <p:cNvSpPr/>
              <p:nvPr/>
            </p:nvSpPr>
            <p:spPr>
              <a:xfrm>
                <a:off x="3566160" y="2788920"/>
                <a:ext cx="548640" cy="3657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0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i="1" sz="10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k&lt;0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Formula 1"/>
              <p:cNvSpPr/>
              <p:nvPr/>
            </p:nvSpPr>
            <p:spPr>
              <a:xfrm>
                <a:off x="3566160" y="2788920"/>
                <a:ext cx="548640" cy="3657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3" name="Text 8"/>
          <p:cNvSpPr/>
          <p:nvPr/>
        </p:nvSpPr>
        <p:spPr>
          <a:xfrm>
            <a:off x="4206240" y="2743200"/>
            <a:ext cx="146304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负向变化 (下降)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4" name="Formula 2"/>
              <p:cNvSpPr/>
              <p:nvPr/>
            </p:nvSpPr>
            <p:spPr>
              <a:xfrm>
                <a:off x="3566160" y="3246120"/>
                <a:ext cx="548640" cy="3657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0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i="1" sz="10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k=0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Formula 2"/>
              <p:cNvSpPr/>
              <p:nvPr/>
            </p:nvSpPr>
            <p:spPr>
              <a:xfrm>
                <a:off x="3566160" y="3246120"/>
                <a:ext cx="548640" cy="36576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5" name="Text 9"/>
          <p:cNvSpPr/>
          <p:nvPr/>
        </p:nvSpPr>
        <p:spPr>
          <a:xfrm>
            <a:off x="4206240" y="3200400"/>
            <a:ext cx="146304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 (无变化)</a:t>
            </a:r>
            <a:endParaRPr lang="en-US" sz="1152" dirty="0"/>
          </a:p>
        </p:txBody>
      </p:sp>
      <p:sp>
        <p:nvSpPr>
          <p:cNvPr id="16" name="Shape 10"/>
          <p:cNvSpPr/>
          <p:nvPr/>
        </p:nvSpPr>
        <p:spPr>
          <a:xfrm>
            <a:off x="6035040" y="1463040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7" name="Text 11"/>
          <p:cNvSpPr/>
          <p:nvPr/>
        </p:nvSpPr>
        <p:spPr>
          <a:xfrm>
            <a:off x="6217920" y="1645920"/>
            <a:ext cx="21945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微积分逻辑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6217920" y="2377440"/>
            <a:ext cx="2194560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研究“变化”：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从静态赋值到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动态瞬时变化率</a:t>
            </a:r>
            <a:endParaRPr lang="en-US" sz="1152" dirty="0"/>
          </a:p>
        </p:txBody>
      </p:sp>
      <p:sp>
        <p:nvSpPr>
          <p:cNvPr id="19" name="Shape 13"/>
          <p:cNvSpPr/>
          <p:nvPr/>
        </p:nvSpPr>
        <p:spPr>
          <a:xfrm>
            <a:off x="548640" y="4754880"/>
            <a:ext cx="45720" cy="274320"/>
          </a:xfrm>
          <a:custGeom>
            <a:avLst/>
            <a:gdLst/>
            <a:ahLst/>
            <a:cxnLst/>
            <a:rect l="l" t="t" r="r" b="b"/>
            <a:pathLst>
              <a:path w="45720" h="274320">
                <a:moveTo>
                  <a:pt x="0" y="0"/>
                </a:moveTo>
                <a:lnTo>
                  <a:pt x="45720" y="0"/>
                </a:lnTo>
                <a:lnTo>
                  <a:pt x="457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0" name="Text 14"/>
          <p:cNvSpPr/>
          <p:nvPr/>
        </p:nvSpPr>
        <p:spPr>
          <a:xfrm>
            <a:off x="685800" y="4663440"/>
            <a:ext cx="790956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重点：理解导数前，必须夯实函数与斜率的基础认知。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2026-06-06T07:50:57Z</dcterms:created>
  <dcterms:modified xsi:type="dcterms:W3CDTF">2026-06-06T07:50:57Z</dcterms:modified>
</cp:coreProperties>
</file>