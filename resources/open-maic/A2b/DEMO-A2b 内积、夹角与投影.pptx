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刚刚大家已经通过前测挑战了自己的直觉。接下来的这节课，我们要把这些模糊的直觉转化为清晰的数学逻辑。现在，请大家看我们的这张‘全景地图’，明确一下接下来的学习路线。
本节课的核心任务非常明确。我们要从三个维度去拆解向量之间的秘密。
首先是内积、夹角和投影这三个核心概念。博文，你在做笔记时可以重点关注内积的正负号是如何暗示夹角变化的；同时，我们要像思悦喜欢的那样，从几何直观上去理解投影的意义，而不仅仅是背公式。
大家看这张路线图，它展示了我们将如何一步步深入。从简单的向量旋转开始，到复杂的挑战环节，每一步都是在为你的知识大厦添砖加瓦。
整个过程包含了9个互动环节。我们会一起操作‘夹角旋转台’，观察‘投影影子’。小数也会在每个实验中引导大家，帮助大家从实验现象中总结出数学规律。准备好了吗？让我们正式进入第一个实验环节。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刚才我们在实验中观察了向量投影的动态变化，现在，让我们把这些直观的几何观察转化为严谨的数学公式。这一节我们将完成核心框架与公式的桥接。
首先来看数量积，也就是点积的定义。博文刚才已经在笔记本上记录了吧？向量 a 点乘向量 b，等于它们的模长乘积再乘以夹角 theta 的余弦值。
这个公式里的 cos theta，正是我们在夹角旋转台中调节的那个变量。它是连接长度与方向的关键。
接下来是投影公式。我们在影子实验中看到的那个“影子长度”，在代数上可以表示为向量 a 在向量 b 方向上的投影，也就是 a 的模长乘以 cos theta。
大家可以发现，投影其实就是数量积公式中去掉向量 b 模长后的那一部分。思悦，你可以想象一下，如果向量 b 是单位向量，数量积和投影在数值上就完全相等了。
最后，我们关注一个特殊而重要的情况：垂直，也叫正交。当两个向量垂直时，夹角为 90 度，cos theta 等于 0。
所以，垂直的充要条件就是它们的内积为零。这在后面的‘垂直零贡献探针’环节中会非常有用。
请记住这句话：内积是将几何投影代数化的核心。掌握了这套公式，我们就能从感性观察跨越到理性计算了。接下来，我们去‘方向贡献地图’里实战一下。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好，通过前面的一系列实验和探针挑战，我们已经对向量内积有了非常直观的感性认识。现在，让我们进入复盘环节，将这些零散的发现收拢为完整的知识体系。
首先是我们在“夹角旋转台”中反复验证过的内积符号判定法。它是我们判断向量方向一致性的核心工具：同向为正，异向为负。
接着是垂直，也就是正交特征。正如我们在“零贡献探针”实验中看到的，当两个向量垂直时，内积恒等于零，这在代数和几何之间搭建了一座完美的桥梁。
关于投影的计算，这是贯穿全课的重难点。请大家注意这个公式，它量化了“影子”的长度和方向，是我们处理复杂几何问题的利器。
最后，我们要补齐一个非常重要的理论边界：柯西-施瓦茨不等式。它告诉我们，无论向量如何摆放，内积的大小永远不会超过它们模长的乘积。只有当两向量共线时，内积才能达到最大或最小值。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592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知识地图与学习路线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234440"/>
            <a:ext cx="2560320" cy="36576"/>
          </a:xfrm>
          <a:custGeom>
            <a:avLst/>
            <a:gdLst/>
            <a:ahLst/>
            <a:cxnLst/>
            <a:rect l="l" t="t" r="r" b="b"/>
            <a:pathLst>
              <a:path w="2560320" h="36576">
                <a:moveTo>
                  <a:pt x="0" y="0"/>
                </a:moveTo>
                <a:lnTo>
                  <a:pt x="2560320" y="0"/>
                </a:lnTo>
                <a:lnTo>
                  <a:pt x="256032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3182CE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554480"/>
            <a:ext cx="3840480" cy="3108960"/>
          </a:xfrm>
          <a:custGeom>
            <a:avLst/>
            <a:gdLst/>
            <a:ahLst/>
            <a:cxnLst/>
            <a:rect l="l" t="t" r="r" b="b"/>
            <a:pathLst>
              <a:path w="3840480" h="3108960">
                <a:moveTo>
                  <a:pt x="0" y="0"/>
                </a:moveTo>
                <a:lnTo>
                  <a:pt x="3840480" y="0"/>
                </a:lnTo>
                <a:lnTo>
                  <a:pt x="3840480" y="3108960"/>
                </a:lnTo>
                <a:lnTo>
                  <a:pt x="0" y="3108960"/>
                </a:lnTo>
                <a:close/>
              </a:path>
            </a:pathLst>
          </a:custGeom>
          <a:solidFill>
            <a:srgbClr val="F7FAFC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737360"/>
            <a:ext cx="338328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2D37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核心要点与目标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777240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核心概念：内积、夹角、投影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掌握重点：内积正负与夹角关系</a:t>
            </a:r>
            <a:endParaRPr lang="en-US" sz="1152" dirty="0"/>
          </a:p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4A556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几何直观：理解投影的几何意义</a:t>
            </a:r>
            <a:endParaRPr lang="en-US" sz="1152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3840480" cy="215798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754880" y="3895344"/>
            <a:ext cx="3840480" cy="768096"/>
          </a:xfrm>
          <a:custGeom>
            <a:avLst/>
            <a:gdLst/>
            <a:ahLst/>
            <a:cxnLst/>
            <a:rect l="l" t="t" r="r" b="b"/>
            <a:pathLst>
              <a:path w="3840480" h="768096">
                <a:moveTo>
                  <a:pt x="0" y="0"/>
                </a:moveTo>
                <a:lnTo>
                  <a:pt x="3840480" y="0"/>
                </a:lnTo>
                <a:lnTo>
                  <a:pt x="3840480" y="768096"/>
                </a:lnTo>
                <a:lnTo>
                  <a:pt x="0" y="768096"/>
                </a:lnTo>
                <a:close/>
              </a:path>
            </a:pathLst>
          </a:custGeom>
          <a:solidFill>
            <a:srgbClr val="EBF8FF"/>
          </a:solidFill>
          <a:ln/>
        </p:spPr>
      </p:sp>
      <p:sp>
        <p:nvSpPr>
          <p:cNvPr id="10" name="Text 6"/>
          <p:cNvSpPr/>
          <p:nvPr/>
        </p:nvSpPr>
        <p:spPr>
          <a:xfrm>
            <a:off x="4937760" y="4050792"/>
            <a:ext cx="347472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互动路线：</a:t>
            </a:r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2B6CB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9个环节，从向量旋转到完成挑战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949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核心框架与公式桥接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48640" y="1152144"/>
            <a:ext cx="2926080" cy="36576"/>
          </a:xfrm>
          <a:custGeom>
            <a:avLst/>
            <a:gdLst/>
            <a:ahLst/>
            <a:cxnLst/>
            <a:rect l="l" t="t" r="r" b="b"/>
            <a:pathLst>
              <a:path w="2926080" h="36576">
                <a:moveTo>
                  <a:pt x="0" y="0"/>
                </a:moveTo>
                <a:lnTo>
                  <a:pt x="2926080" y="0"/>
                </a:lnTo>
                <a:lnTo>
                  <a:pt x="292608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5B9BD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54480"/>
            <a:ext cx="3200400" cy="219456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731520" y="3977640"/>
            <a:ext cx="3200400" cy="640080"/>
          </a:xfrm>
          <a:custGeom>
            <a:avLst/>
            <a:gdLst/>
            <a:ahLst/>
            <a:cxnLst/>
            <a:rect l="l" t="t" r="r" b="b"/>
            <a:pathLst>
              <a:path w="3200400" h="640080">
                <a:moveTo>
                  <a:pt x="0" y="0"/>
                </a:moveTo>
                <a:lnTo>
                  <a:pt x="3200400" y="0"/>
                </a:lnTo>
                <a:lnTo>
                  <a:pt x="3200400" y="640080"/>
                </a:lnTo>
                <a:lnTo>
                  <a:pt x="0" y="640080"/>
                </a:lnTo>
                <a:close/>
              </a:path>
            </a:pathLst>
          </a:custGeom>
          <a:solidFill>
            <a:srgbClr val="F8F9FA"/>
          </a:solidFill>
          <a:ln/>
        </p:spPr>
      </p:sp>
      <p:sp>
        <p:nvSpPr>
          <p:cNvPr id="7" name="Text 3"/>
          <p:cNvSpPr/>
          <p:nvPr/>
        </p:nvSpPr>
        <p:spPr>
          <a:xfrm>
            <a:off x="914400" y="4087368"/>
            <a:ext cx="2834640" cy="42062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注：内积是将几何投影代数化的核心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4572000" y="1280160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数量积定义 (Dot Product)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9" name="Formula 0"/>
              <p:cNvSpPr/>
              <p:nvPr/>
            </p:nvSpPr>
            <p:spPr>
              <a:xfrm>
                <a:off x="4572000" y="1737360"/>
                <a:ext cx="402336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limUpp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⋅</m:t>
                      </m:r>
                      <m:limUpp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=|</m:t>
                      </m:r>
                      <m:limUpp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||</m:t>
                      </m:r>
                      <m:limUpp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|</m:t>
                      </m:r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cos⁡</m:t>
                      </m:r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9" name="Formula 0"/>
              <p:cNvSpPr/>
              <p:nvPr/>
            </p:nvSpPr>
            <p:spPr>
              <a:xfrm>
                <a:off x="4572000" y="1737360"/>
                <a:ext cx="402336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0" name="Text 5"/>
          <p:cNvSpPr/>
          <p:nvPr/>
        </p:nvSpPr>
        <p:spPr>
          <a:xfrm>
            <a:off x="4572000" y="2468880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投影公式 (Projection)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1" name="Formula 1"/>
              <p:cNvSpPr/>
              <p:nvPr/>
            </p:nvSpPr>
            <p:spPr>
              <a:xfrm>
                <a:off x="4572000" y="2926080"/>
                <a:ext cx="402336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m:t xml:space="preserve">Prj</m:t>
                          </m:r>
                        </m:e>
                        <m:sub>
                          <m:limUpp>
                            <m:e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b</m:t>
                              </m:r>
                            </m:e>
                            <m:lim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→</m:t>
                              </m:r>
                            </m:lim>
                          </m:limUpp>
                        </m:sub>
                      </m:sSub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(</m:t>
                      </m:r>
                      <m:limUpp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)=|</m:t>
                      </m:r>
                      <m:limUpp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|</m:t>
                      </m:r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cos⁡</m:t>
                      </m:r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θ=</m:t>
                      </m:r>
                      <m:f>
                        <m:fPr>
                          <m:type m:val="bar"/>
                        </m:fPr>
                        <m:num>
                          <m:limUpp>
                            <m:e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a</m:t>
                              </m:r>
                            </m:e>
                            <m:lim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→</m:t>
                              </m:r>
                            </m:lim>
                          </m:limUpp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⋅</m:t>
                          </m:r>
                          <m:limUpp>
                            <m:e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b</m:t>
                              </m:r>
                            </m:e>
                            <m:lim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→</m:t>
                              </m:r>
                            </m:lim>
                          </m:limUpp>
                        </m:num>
                        <m:den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|</m:t>
                          </m:r>
                          <m:limUpp>
                            <m:e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b</m:t>
                              </m:r>
                            </m:e>
                            <m:lim>
                              <m:r>
                                <a:rPr lang="en-US" i="1" sz="19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→</m:t>
                              </m:r>
                            </m:lim>
                          </m:limUpp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|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  <mc:Fallback>
          <p:sp>
            <p:nvSpPr>
              <p:cNvPr id="11" name="Formula 1"/>
              <p:cNvSpPr/>
              <p:nvPr/>
            </p:nvSpPr>
            <p:spPr>
              <a:xfrm>
                <a:off x="4572000" y="2926080"/>
                <a:ext cx="402336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2" name="Text 6"/>
          <p:cNvSpPr/>
          <p:nvPr/>
        </p:nvSpPr>
        <p:spPr>
          <a:xfrm>
            <a:off x="4572000" y="3749040"/>
            <a:ext cx="4023360" cy="4480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垂直/正交条件 (Orthogonality)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3" name="Formula 2"/>
              <p:cNvSpPr/>
              <p:nvPr/>
            </p:nvSpPr>
            <p:spPr>
              <a:xfrm>
                <a:off x="4572000" y="4206240"/>
                <a:ext cx="402336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700"/>
                </a:pPr>
                <a14:m>
                  <m:oMathPara>
                    <m:oMathParaPr>
                      <m:jc m:val="left"/>
                    </m:oMathParaPr>
                    <m:oMath>
                      <m:limUpp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⟂</m:t>
                      </m:r>
                      <m:limUpp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⟺</m:t>
                      </m:r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limUpp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⋅</m:t>
                      </m:r>
                      <m:limUpp>
                        <m:e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7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7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3" name="Formula 2"/>
              <p:cNvSpPr/>
              <p:nvPr/>
            </p:nvSpPr>
            <p:spPr>
              <a:xfrm>
                <a:off x="4572000" y="4206240"/>
                <a:ext cx="4023360" cy="64008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48640" y="457200"/>
            <a:ext cx="8046720" cy="6400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304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复盘：知识完整性回收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640080" y="1143000"/>
            <a:ext cx="3291840" cy="36576"/>
          </a:xfrm>
          <a:custGeom>
            <a:avLst/>
            <a:gdLst/>
            <a:ahLst/>
            <a:cxnLst/>
            <a:rect l="l" t="t" r="r" b="b"/>
            <a:pathLst>
              <a:path w="3291840" h="36576">
                <a:moveTo>
                  <a:pt x="0" y="0"/>
                </a:moveTo>
                <a:lnTo>
                  <a:pt x="3291840" y="0"/>
                </a:lnTo>
                <a:lnTo>
                  <a:pt x="3291840" y="36576"/>
                </a:lnTo>
                <a:lnTo>
                  <a:pt x="0" y="36576"/>
                </a:lnTo>
                <a:close/>
              </a:path>
            </a:pathLst>
          </a:custGeom>
          <a:solidFill>
            <a:srgbClr val="5B9BD5"/>
          </a:solidFill>
          <a:ln/>
        </p:spPr>
      </p:sp>
      <p:sp>
        <p:nvSpPr>
          <p:cNvPr id="5" name="Shape 2"/>
          <p:cNvSpPr/>
          <p:nvPr/>
        </p:nvSpPr>
        <p:spPr>
          <a:xfrm>
            <a:off x="548640" y="1463040"/>
            <a:ext cx="3931920" cy="548640"/>
          </a:xfrm>
          <a:custGeom>
            <a:avLst/>
            <a:gdLst/>
            <a:ahLst/>
            <a:cxnLst/>
            <a:rect l="l" t="t" r="r" b="b"/>
            <a:pathLst>
              <a:path w="3931920" h="548640">
                <a:moveTo>
                  <a:pt x="0" y="0"/>
                </a:moveTo>
                <a:lnTo>
                  <a:pt x="3931920" y="0"/>
                </a:lnTo>
                <a:lnTo>
                  <a:pt x="39319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731520" y="1472184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内积符号判定法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7" name="Formula 0"/>
              <p:cNvSpPr/>
              <p:nvPr/>
            </p:nvSpPr>
            <p:spPr>
              <a:xfrm>
                <a:off x="640080" y="2194560"/>
                <a:ext cx="219456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⋅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&gt;0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⟺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m:rPr>
                          <m:nor/>
                        </m:rPr>
                        <m:t xml:space="preserve">锐角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7" name="Formula 0"/>
              <p:cNvSpPr/>
              <p:nvPr/>
            </p:nvSpPr>
            <p:spPr>
              <a:xfrm>
                <a:off x="640080" y="2194560"/>
                <a:ext cx="219456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2103120"/>
            <a:ext cx="1371600" cy="612648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4663440" y="1463040"/>
            <a:ext cx="3931920" cy="548640"/>
          </a:xfrm>
          <a:custGeom>
            <a:avLst/>
            <a:gdLst/>
            <a:ahLst/>
            <a:cxnLst/>
            <a:rect l="l" t="t" r="r" b="b"/>
            <a:pathLst>
              <a:path w="3931920" h="548640">
                <a:moveTo>
                  <a:pt x="0" y="0"/>
                </a:moveTo>
                <a:lnTo>
                  <a:pt x="3931920" y="0"/>
                </a:lnTo>
                <a:lnTo>
                  <a:pt x="39319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0" name="Text 5"/>
          <p:cNvSpPr/>
          <p:nvPr/>
        </p:nvSpPr>
        <p:spPr>
          <a:xfrm>
            <a:off x="4846320" y="1472184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垂直（正交）特征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1" name="Formula 1"/>
              <p:cNvSpPr/>
              <p:nvPr/>
            </p:nvSpPr>
            <p:spPr>
              <a:xfrm>
                <a:off x="4846320" y="2194560"/>
                <a:ext cx="34747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⟂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⟺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⋅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=0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1" name="Formula 1"/>
              <p:cNvSpPr/>
              <p:nvPr/>
            </p:nvSpPr>
            <p:spPr>
              <a:xfrm>
                <a:off x="4846320" y="2194560"/>
                <a:ext cx="347472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2" name="Shape 6"/>
          <p:cNvSpPr/>
          <p:nvPr/>
        </p:nvSpPr>
        <p:spPr>
          <a:xfrm>
            <a:off x="548640" y="3200400"/>
            <a:ext cx="3931920" cy="548640"/>
          </a:xfrm>
          <a:custGeom>
            <a:avLst/>
            <a:gdLst/>
            <a:ahLst/>
            <a:cxnLst/>
            <a:rect l="l" t="t" r="r" b="b"/>
            <a:pathLst>
              <a:path w="3931920" h="548640">
                <a:moveTo>
                  <a:pt x="0" y="0"/>
                </a:moveTo>
                <a:lnTo>
                  <a:pt x="3931920" y="0"/>
                </a:lnTo>
                <a:lnTo>
                  <a:pt x="39319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1F5F9"/>
          </a:solidFill>
          <a:ln/>
        </p:spPr>
      </p:sp>
      <p:sp>
        <p:nvSpPr>
          <p:cNvPr id="13" name="Text 7"/>
          <p:cNvSpPr/>
          <p:nvPr/>
        </p:nvSpPr>
        <p:spPr>
          <a:xfrm>
            <a:off x="731520" y="3209544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投影几何计算</a:t>
            </a:r>
            <a:endParaRPr lang="en-US" sz="1152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840480"/>
            <a:ext cx="1645920" cy="731520"/>
          </a:xfrm>
          <a:prstGeom prst="rect">
            <a:avLst/>
          </a:prstGeom>
        </p:spPr>
      </p:pic>
      <mc:AlternateContent xmlns:mc="http://schemas.openxmlformats.org/markup-compatibility/2006">
        <mc:Choice Requires="a14">
          <p:sp>
            <p:nvSpPr>
              <p:cNvPr id="15" name="Formula 2"/>
              <p:cNvSpPr/>
              <p:nvPr/>
            </p:nvSpPr>
            <p:spPr>
              <a:xfrm>
                <a:off x="2377440" y="3931920"/>
                <a:ext cx="201168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400"/>
                </a:pPr>
                <a14:m>
                  <m:oMathPara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m:t xml:space="preserve">proj</m:t>
                          </m:r>
                        </m:e>
                        <m:sub>
                          <m:limUpp>
                            <m:e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b</m:t>
                              </m:r>
                            </m:e>
                            <m:lim>
                              <m:r>
                                <a:rPr lang="en-US" i="1" sz="1400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 xml:space="preserve">→</m:t>
                              </m:r>
                            </m:lim>
                          </m:limUpp>
                        </m:sub>
                      </m:sSub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=|</m:t>
                      </m:r>
                      <m:limUpp>
                        <m:e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4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|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cos⁡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 </m:t>
                      </m:r>
                      <m:r>
                        <a:rPr lang="en-US" i="1" sz="14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θ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5" name="Formula 2"/>
              <p:cNvSpPr/>
              <p:nvPr/>
            </p:nvSpPr>
            <p:spPr>
              <a:xfrm>
                <a:off x="2377440" y="3931920"/>
                <a:ext cx="2011680" cy="54864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  <p:sp>
        <p:nvSpPr>
          <p:cNvPr id="16" name="Shape 8"/>
          <p:cNvSpPr/>
          <p:nvPr/>
        </p:nvSpPr>
        <p:spPr>
          <a:xfrm>
            <a:off x="4663440" y="3200400"/>
            <a:ext cx="3931920" cy="548640"/>
          </a:xfrm>
          <a:custGeom>
            <a:avLst/>
            <a:gdLst/>
            <a:ahLst/>
            <a:cxnLst/>
            <a:rect l="l" t="t" r="r" b="b"/>
            <a:pathLst>
              <a:path w="3931920" h="548640">
                <a:moveTo>
                  <a:pt x="0" y="0"/>
                </a:moveTo>
                <a:lnTo>
                  <a:pt x="3931920" y="0"/>
                </a:lnTo>
                <a:lnTo>
                  <a:pt x="3931920" y="548640"/>
                </a:lnTo>
                <a:lnTo>
                  <a:pt x="0" y="548640"/>
                </a:lnTo>
                <a:close/>
              </a:path>
            </a:pathLst>
          </a:custGeom>
          <a:solidFill>
            <a:srgbClr val="FEF2F2"/>
          </a:solidFill>
          <a:ln/>
        </p:spPr>
      </p:sp>
      <p:sp>
        <p:nvSpPr>
          <p:cNvPr id="17" name="Text 9"/>
          <p:cNvSpPr/>
          <p:nvPr/>
        </p:nvSpPr>
        <p:spPr>
          <a:xfrm>
            <a:off x="4846320" y="3209544"/>
            <a:ext cx="356616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b="1" dirty="0">
                <a:solidFill>
                  <a:srgbClr val="991B1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Cauchy-Schwarz 不等式</a:t>
            </a:r>
            <a:endParaRPr lang="en-US" sz="1152" dirty="0"/>
          </a:p>
        </p:txBody>
      </p:sp>
      <mc:AlternateContent xmlns:mc="http://schemas.openxmlformats.org/markup-compatibility/2006">
        <mc:Choice Requires="a14">
          <p:sp>
            <p:nvSpPr>
              <p:cNvPr id="18" name="Formula 3"/>
              <p:cNvSpPr/>
              <p:nvPr/>
            </p:nvSpPr>
            <p:spPr>
              <a:xfrm>
                <a:off x="4846320" y="3886200"/>
                <a:ext cx="34747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pPr>
                  <a:defRPr sz="1900"/>
                </a:pPr>
                <a14:m>
                  <m:oMathPara>
                    <m:oMathParaPr>
                      <m:jc m:val="left"/>
                    </m:oMathParaPr>
                    <m:oMath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|</m:t>
                      </m:r>
                      <m:limUpp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⋅</m:t>
                      </m:r>
                      <m:limUpp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|≤|</m:t>
                      </m:r>
                      <m:limUpp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a</m:t>
                          </m:r>
                        </m:e>
                        <m:lim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||</m:t>
                      </m:r>
                      <m:limUpp>
                        <m:e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b</m:t>
                          </m:r>
                        </m:e>
                        <m:lim>
                          <m:r>
                            <a:rPr lang="en-US" i="1" sz="1900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 xml:space="preserve">→</m:t>
                          </m:r>
                        </m:lim>
                      </m:limUpp>
                      <m:r>
                        <a:rPr lang="en-US" i="1" sz="1900">
                          <a:latin typeface="Cambria Math" panose="02040503050406030204" charset="0"/>
                          <a:cs typeface="Cambria Math" panose="02040503050406030204" charset="0"/>
                        </a:rPr>
                        <m:t xml:space="preserve">|</m:t>
                      </m:r>
                    </m:oMath>
                  </m:oMathPara>
                </a14:m>
              </a:p>
            </p:txBody>
          </p:sp>
        </mc:Choice>
        <mc:Fallback>
          <p:sp>
            <p:nvSpPr>
              <p:cNvPr id="18" name="Formula 3"/>
              <p:cNvSpPr/>
              <p:nvPr/>
            </p:nvSpPr>
            <p:spPr>
              <a:xfrm>
                <a:off x="4846320" y="3886200"/>
                <a:ext cx="3474720" cy="731520"/>
              </a:xfrm>
              <a:prstGeom prst="rect">
                <a:avLst/>
              </a:prstGeom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[Formula]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2026-06-06T08:19:47Z</dcterms:created>
  <dcterms:modified xsi:type="dcterms:W3CDTF">2026-06-06T08:19:47Z</dcterms:modified>
</cp:coreProperties>
</file>