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在刚刚的直觉扫查中，大家已经初步感受到了多维空间的奇妙。现在，让我们把这些碎片化的直觉整理成一条清晰的探索路线：从弯曲到线性。
请看这张知识地图。我们将从大家熟悉的曲线（Curves）出发，跨越维度进入曲面（Surfaces）的世界。随后，我们会利用等高线（Contours）作为地图，学会如何在复杂的曲面上寻找方向，并最终引入线性近似（Linear Approximation）的思维方式。
为了确保这次探索卓有成效，我们需要明确这节课的几个具体目标。
首先，我们要学会识别三类基本的曲面，这是构建多维空间感的基础。更重要的是，我们要理解局部平面（Local Planes）的几何意义——它是我们将复杂的曲面转化为简单线性模型的核心桥梁。
大家注意到下面的注释了吗？在学习过程中，请务必重点关注正定（Positive Definite）这一概念的几何直观，它决定了曲面的“开口方向”与稳定性。
有了这张宏观地图，我们就不会在多维的森林里迷路了。准备好了吗？让我们正式开始下一环节：维度跃迁。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刚才我们通过几何直观观察了各种曲面的形状，比如那个特殊的柱面抛物面。现在，我们要更进一步，把这种图像语言转化为严谨的数学符号。这就是我们要搭建的‘公式桥梁’：从一维导数过渡到局部平面。
大家对这个一元切线公式一定不陌生。它告诉我们，在局部，复杂的曲线可以用一条简单的直线来近似，其中的导数 $f'(a)$ 决定了这条直线的坡度。这是我们理解局部线性 (Local Linearity) 的起点。
当我们步入二元世界，这个公式就演变成了切平面公式 (Tangent Plane)。请看，它的结构与一元公式高度对称，只是现在我们需要同时考虑 $x$ 和 $y$ 两个方向的变化。
这里的偏导数 (Partial Derivatives) $f_x$ 和 $f_y$ 定义了主轴方向的局部变化。它们共同构成了一个非常有力的工具——梯度 (Gradient)。梯度方向就是函数值上升最快的方向，这在优化算法中至关重要。
结合这张图看，局部平面实际上是由偏导数定义的等高线 (Contours) 映射而成的。在这个微小的局部，曲面看起来就像一个平整的斜坡。既然我们已经把公式建立起来了，大家思考一下，为什么我们在研究复杂的曲面时，非要先把它简化成一个平面呢？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刚才我们通过直觉观察了等高线的疏密与梯度的关系。现在，让我们把这些感性认识上升到严谨的数学定义，完成从直觉到理论的闭环。
首先是局部线性（Local Linearity）。我们在第九页放大曲面时看到的那个微小的“平面”，其数学本质就是二元泰勒展开的前两项。通过这个公式，我们可以将复杂的非线性曲面在局部简化为线性模型。
其次是正定性（Positive Definite）。在之前的“扫描仪”环节中，我们观察到 Hessian 矩阵的特征值决定了开口方向。严谨地说，当 Hessian 矩阵满足正定条件，即所有特征值大于零时，该点就是一个局部极小值点。
最后，梯度下降（Gradient Descent）的几何基础在于梯度向量永远垂直于等高线（Contours）。正是这个性质，保证了我们沿着梯度反方向走，一定是在局部下降最快的。
好了，掌握了局部近似、Hessian 矩阵和梯度方向这三个核心点，大家就已经完成了从地形阅读者到数学专家的蜕变。接下来，我们要进入实战环节，看看大家能否应对接下来的挑战赛！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探索路线：从弯曲到线性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474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 Goals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29184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识别三类基本曲面 (Surfaces)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理解局部平面 (Local Planes) 的几何意义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94360" y="2194560"/>
            <a:ext cx="27432" cy="640080"/>
          </a:xfrm>
          <a:custGeom>
            <a:avLst/>
            <a:gdLst/>
            <a:ahLst/>
            <a:cxnLst/>
            <a:rect l="l" t="t" r="r" b="b"/>
            <a:pathLst>
              <a:path w="27432" h="640080">
                <a:moveTo>
                  <a:pt x="0" y="0"/>
                </a:moveTo>
                <a:lnTo>
                  <a:pt x="27432" y="0"/>
                </a:lnTo>
                <a:lnTo>
                  <a:pt x="27432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554480"/>
            <a:ext cx="4206240" cy="23591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4023360"/>
            <a:ext cx="42062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知识地图：曲线 → 曲面 → 等高线 → 线性近似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48640" y="4389120"/>
            <a:ext cx="3474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注：重点关注正定 (Positive Definite) 的几何直观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公式桥梁：从一维导数到局部平面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5029200" cy="27432"/>
          </a:xfrm>
          <a:custGeom>
            <a:avLst/>
            <a:gdLst/>
            <a:ahLst/>
            <a:cxnLst/>
            <a:rect l="l" t="t" r="r" b="b"/>
            <a:pathLst>
              <a:path w="5029200" h="27432">
                <a:moveTo>
                  <a:pt x="0" y="0"/>
                </a:moveTo>
                <a:lnTo>
                  <a:pt x="5029200" y="0"/>
                </a:lnTo>
                <a:lnTo>
                  <a:pt x="502920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931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一元切线公式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的二元线性扩展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偏导数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定义了主轴方向的局部变化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梯度方向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：函数上升最快的方向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3931920" cy="221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675888"/>
            <a:ext cx="39319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局部平面由偏导数定义的等高线 (Contours) 映射而成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2834640"/>
            <a:ext cx="3840480" cy="1828800"/>
          </a:xfrm>
          <a:custGeom>
            <a:avLst/>
            <a:gdLst/>
            <a:ahLst/>
            <a:cxnLst/>
            <a:rect l="l" t="t" r="r" b="b"/>
            <a:pathLst>
              <a:path w="3840480" h="1828800">
                <a:moveTo>
                  <a:pt x="0" y="0"/>
                </a:moveTo>
                <a:lnTo>
                  <a:pt x="3840480" y="0"/>
                </a:lnTo>
                <a:lnTo>
                  <a:pt x="384048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926080"/>
            <a:ext cx="1371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一维切线参考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0" name="Formula 0"/>
              <p:cNvSpPr/>
              <p:nvPr/>
            </p:nvSpPr>
            <p:spPr>
              <a:xfrm>
                <a:off x="731520" y="3291840"/>
                <a:ext cx="347472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2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f(x)≈f(a)+</m:t>
                      </m:r>
                      <m:sSup>
                        <m:sSupPr>
                          <m:ctrlP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p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(a)(x−a)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0"/>
              <p:cNvSpPr/>
              <p:nvPr/>
            </p:nvSpPr>
            <p:spPr>
              <a:xfrm>
                <a:off x="731520" y="3291840"/>
                <a:ext cx="347472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1" name="Text 6"/>
          <p:cNvSpPr/>
          <p:nvPr/>
        </p:nvSpPr>
        <p:spPr>
          <a:xfrm>
            <a:off x="731520" y="3794760"/>
            <a:ext cx="1371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二维切平面扩展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2" name="Formula 1"/>
              <p:cNvSpPr/>
              <p:nvPr/>
            </p:nvSpPr>
            <p:spPr>
              <a:xfrm>
                <a:off x="731520" y="4160520"/>
                <a:ext cx="347472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2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L(x,y)=f(a,b)+</m:t>
                      </m:r>
                      <m:sSub>
                        <m:sSubPr>
                          <m:ctrlP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sub>
                      </m:sSub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(a,b)(x−a)+</m:t>
                      </m:r>
                      <m:sSub>
                        <m:sSubPr>
                          <m:ctrlP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y</m:t>
                          </m:r>
                        </m:sub>
                      </m:sSub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(a,b)(y−b)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Formula 1"/>
              <p:cNvSpPr/>
              <p:nvPr/>
            </p:nvSpPr>
            <p:spPr>
              <a:xfrm>
                <a:off x="731520" y="4160520"/>
                <a:ext cx="347472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3" name="Shape 7"/>
          <p:cNvSpPr/>
          <p:nvPr/>
        </p:nvSpPr>
        <p:spPr>
          <a:xfrm>
            <a:off x="1828800" y="3749040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0"/>
                </a:moveTo>
                <a:lnTo>
                  <a:pt x="0" y="137160"/>
                </a:lnTo>
              </a:path>
            </a:pathLst>
          </a:custGeom>
          <a:noFill/>
          <a:ln w="18288">
            <a:solidFill>
              <a:srgbClr val="A0AEC0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<p:cSld name="Slide 3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3" name="Text 0"></p:cNvPr><p:cNvSpPr/><p:nvPr></p:nvPr></p:nvSpPr><p:spPr><a:xfrm><a:off x="548640" y="457200"/><a:ext cx="8046720" cy="640080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2304" b="1" dirty="0"><a:solidFill><a:srgbClr val="1E293B"/></a:solidFill><a:latin typeface="Microsoft YaHei" pitchFamily="34" charset="0"/><a:ea typeface="Microsoft YaHei" pitchFamily="34" charset="-122"/><a:cs typeface="Microsoft YaHei" pitchFamily="34" charset="-120"/></a:rPr><a:t>复盘：从直觉到严谨定义</a:t></a:r><a:endParaRPr lang="en-US" sz="1152" dirty="0"/></a:p></p:txBody></p:sp><p:sp><p:nvSpPr><p:cNvPr id="4" name="Shape 1"></p:cNvPr><p:cNvSpPr/><p:nvPr></p:nvPr></p:nvSpPr><p:spPr><a:xfrm><a:off x="640080" y="1143000"/><a:ext cx="7863840" cy="27432"/></a:xfrm><a:custGeom><a:avLst /><a:gdLst></a:gdLst><a:ahLst /><a:cxnLst></a:cxnLst><a:rect l="l" t="t" r="r" b="b" /><a:pathLst><a:path w="7863840" h="27432"><a:moveTo><a:pt x="0" y="0" /></a:moveTo><a:lnTo><a:pt x="7863840" y="0" /></a:lnTo><a:lnTo><a:pt x="7863840" y="27432" /></a:lnTo><a:lnTo><a:pt x="0" y="27432" /></a:lnTo><a:close /></a:path></a:pathLst></a:custGeom><a:solidFill><a:srgbClr val="3B82F6"/></a:solidFill><a:ln></a:ln></p:spPr></p:sp><p:sp><p:nvSpPr><p:cNvPr id="5" name="Shape 2"></p:cNvPr><p:cNvSpPr/><p:nvPr></p:nvPr></p:nvSpPr><p:spPr><a:xfrm><a:off x="548640" y="1371600"/><a:ext cx="2560320" cy="1280160"/></a:xfrm><a:custGeom><a:avLst /><a:gdLst></a:gdLst><a:ahLst /><a:cxnLst></a:cxnLst><a:rect l="l" t="t" r="r" b="b" /><a:pathLst><a:path w="2560320" h="1280160"><a:moveTo><a:pt x="0" y="0" /></a:moveTo><a:lnTo><a:pt x="2560320" y="0" /></a:lnTo><a:lnTo><a:pt x="2560320" y="1280160" /></a:lnTo><a:lnTo><a:pt x="0" y="1280160" /></a:lnTo><a:close /></a:path></a:pathLst></a:custGeom><a:solidFill><a:srgbClr val="F1F5F9"/></a:solidFill><a:ln></a:ln></p:spPr></p:sp><p:sp><p:nvSpPr><p:cNvPr id="6" name="Shape 3"></p:cNvPr><p:cNvSpPr/><p:nvPr></p:nvPr></p:nvSpPr><p:spPr><a:xfrm><a:off x="3291840" y="1371600"/><a:ext cx="2560320" cy="1280160"/></a:xfrm><a:custGeom><a:avLst /><a:gdLst></a:gdLst><a:ahLst /><a:cxnLst></a:cxnLst><a:rect l="l" t="t" r="r" b="b" /><a:pathLst><a:path w="2560320" h="1280160"><a:moveTo><a:pt x="0" y="0" /></a:moveTo><a:lnTo><a:pt x="2560320" y="0" /></a:lnTo><a:lnTo><a:pt x="2560320" y="1280160" /></a:lnTo><a:lnTo><a:pt x="0" y="1280160" /></a:lnTo><a:close /></a:path></a:pathLst></a:custGeom><a:solidFill><a:srgbClr val="F0FDF4"/></a:solidFill><a:ln></a:ln></p:spPr></p:sp><p:sp><p:nvSpPr><p:cNvPr id="7" name="Shape 4"></p:cNvPr><p:cNvSpPr/><p:nvPr></p:nvPr></p:nvSpPr><p:spPr><a:xfrm><a:off x="6035040" y="1371600"/><a:ext cx="2560320" cy="1280160"/></a:xfrm><a:custGeom><a:avLst /><a:gdLst></a:gdLst><a:ahLst /><a:cxnLst></a:cxnLst><a:rect l="l" t="t" r="r" b="b" /><a:pathLst><a:path w="2560320" h="1280160"><a:moveTo><a:pt x="0" y="0" /></a:moveTo><a:lnTo><a:pt x="2560320" y="0" /></a:lnTo><a:lnTo><a:pt x="2560320" y="1280160" /></a:lnTo><a:lnTo><a:pt x="0" y="1280160" /></a:lnTo><a:close /></a:path></a:pathLst></a:custGeom><a:solidFill><a:srgbClr val="FFF7ED"/></a:solidFill><a:ln></a:ln></p:spPr></p:sp><p:sp><p:nvSpPr><p:cNvPr id="8" name="Text 5"></p:cNvPr><p:cNvSpPr/><p:nvPr></p:nvPr></p:nvSpPr><p:spPr><a:xfrm><a:off x="731520" y="1508760"/><a:ext cx="2194560" cy="448056"/></a:xfrm><a:prstGeom prst="rect"><a:avLst></a:avLst></a:prstGeom><a:noFill/><a:ln></a:ln></p:spPr><p:txBody><a:bodyPr wrap="square" lIns="91440" tIns="91440" rIns="91440" bIns="91440" rtlCol="0" anchor="t"><a:spAutoFit/></a:bodyPr><a:lstStyle/><a:p><a:pPr algn="ctr" indent="0" marL="0"><a:lnSpc><a:spcPct val="120000"/></a:lnSpc><a:spcBef><a:spcPts val="360"/></a:spcBef><a:buNone/></a:pPr><a:r><a:rPr lang="en-US" sz="1296" dirty="0"><a:solidFill><a:srgbClr val="334155"/></a:solidFill><a:latin typeface="Microsoft YaHei" pitchFamily="34" charset="0"/><a:ea typeface="Microsoft YaHei" pitchFamily="34" charset="-122"/><a:cs typeface="Microsoft YaHei" pitchFamily="34" charset="-120"/></a:rPr><a:t>局部线性 (Local Linearity)</a:t></a:r><a:endParaRPr lang="en-US" sz="1152" dirty="0"/></a:p></p:txBody></p:sp><mc:AlternateContent xmlns:mc="http://schemas.openxmlformats.org/markup-compatibility/2006"><mc:Choice Requires="a14"><p:sp> <p:nvSpPr>  <p:cNvPr id="9" name="Formula 0"/>  <p:cNvSpPr/>  <p:nvPr/> </p:nvSpPr> <p:spPr>  <a:xfrm><a:off x="731520" y="1965960"/><a:ext cx="2194560" cy="548640"/></a:xfrm>  <a:prstGeom prst="rect"><a:avLst/></a:prstGeom> </p:spPr> <p:txBody>  <a:bodyPr wrap="square" rtlCol="0"><a:spAutoFit/></a:bodyPr>  <a:lstStyle/>  <a:p>   <a:pPr><a:defRPr sz="1400"/></a:pPr>   <a14:m>    <m:oMathPara>     <m:oMathParaPr><m:jc m:val="centerGroup"/></m:oMathParaPr>     <m:oMath><m:r><a:rPr lang="en-US" i="1" sz="1400"><a:latin typeface="Cambria Math" panose="02040503050406030204" charset="0"/><a:cs typeface="Cambria Math" panose="02040503050406030204" charset="0"/></a:rPr><m:t xml:space="preserve">f(𝐱)≈f(𝐚)+∇f(𝐚</m:t></m:r><m:sSup><m:sSupPr><m:ctrlPr><a:rPr lang="en-US" i="1" sz="1400"><a:latin typeface="Cambria Math" panose="02040503050406030204" charset="0"/><a:cs typeface="Cambria Math" panose="02040503050406030204" charset="0"/></a:rPr></m:ctrlPr></m:sSupPr><m:e><m:r><a:rPr lang="en-US" i="1" sz="1400"><a:latin typeface="Cambria Math" panose="02040503050406030204" charset="0"/><a:cs typeface="Cambria Math" panose="02040503050406030204" charset="0"/></a:rPr><m:t xml:space="preserve">)</m:t></m:r></m:e><m:sup><m:r><a:rPr lang="en-US" i="1" sz="1400"><a:latin typeface="Cambria Math" panose="02040503050406030204" charset="0"/><a:cs typeface="Cambria Math" panose="02040503050406030204" charset="0"/></a:rPr><m:t xml:space="preserve">T</m:t></m:r></m:sup></m:sSup><m:r><w:rPr/><m:rPr><m:nor/><m:sty m:val="undefined"/></m:rPr><m:t xml:space="preserve">Δ</m:t></m:r><m:r><a:rPr lang="en-US" i="1" sz="1400"><a:latin typeface="Cambria Math" panose="02040503050406030204" charset="0"/><a:cs typeface="Cambria Math" panose="02040503050406030204" charset="0"/></a:rPr><m:t xml:space="preserve">𝐱</m:t></m:r></m:oMath>    </m:oMathPara>   </a14:m>  </a:p> </p:txBody></p:sp></mc:Choice><mc:Fallback><p:sp> <p:nvSpPr>  <p:cNvPr id="9" name="Formula 0"/>  <p:cNvSpPr/>  <p:nvPr/> </p:nvSpPr> <p:spPr>  <a:xfrm><a:off x="731520" y="1965960"/><a:ext cx="2194560" cy="548640"/></a:xfrm>  <a:prstGeom prst="rect"><a:avLst/></a:prstGeom> </p:spPr> <p:txBody>  <a:bodyPr wrap="square" rtlCol="0"><a:spAutoFit/></a:bodyPr>  <a:lstStyle/>  <a:p><a:r><a:rPr lang="en-US" dirty="0"/><a:t>[Formula]</a:t></a:r></a:p> </p:txBody></p:sp></mc:Fallback></mc:AlternateContent><p:sp><p:nvSpPr><p:cNvPr id="10" name="Text 6"></p:cNvPr><p:cNvSpPr/><p:nvPr></p:nvPr></p:nvSpPr><p:spPr><a:xfrm><a:off x="3474720" y="1508760"/><a:ext cx="2194560" cy="448056"/></a:xfrm><a:prstGeom prst="rect"><a:avLst></a:avLst></a:prstGeom><a:noFill/><a:ln></a:ln></p:spPr><p:txBody><a:bodyPr wrap="square" lIns="91440" tIns="91440" rIns="91440" bIns="91440" rtlCol="0" anchor="t"><a:spAutoFit/></a:bodyPr><a:lstStyle/><a:p><a:pPr algn="ctr" indent="0" marL="0"><a:lnSpc><a:spcPct val="120000"/></a:lnSpc><a:spcBef><a:spcPts val="360"/></a:spcBef><a:buNone/></a:pPr><a:r><a:rPr lang="en-US" sz="1296" dirty="0"><a:solidFill><a:srgbClr val="166534"/></a:solidFill><a:latin typeface="Microsoft YaHei" pitchFamily="34" charset="0"/><a:ea typeface="Microsoft YaHei" pitchFamily="34" charset="-122"/><a:cs typeface="Microsoft YaHei" pitchFamily="34" charset="-120"/></a:rPr><a:t>正定性 (Positive Definite)</a:t></a:r><a:endParaRPr lang="en-US" sz="1152" dirty="0"/></a:p></p:txBody></p:sp><mc:AlternateContent xmlns:mc="http://schemas.openxmlformats.org/markup-compatibility/2006"><mc:Choice Requires="a14"><p:sp> <p:nvSpPr>  <p:cNvPr id="11" name="Formula 1"/>  <p:cNvSpPr/>  <p:nvPr/> </p:nvSpPr> <p:spPr>  <a:xfrm><a:off x="3474720" y="1965960"/><a:ext cx="2194560" cy="548640"/></a:xfrm>  <a:prstGeom prst="rect"><a:avLst/></a:prstGeom> </p:spPr> <p:txBody>  <a:bodyPr wrap="square" rtlCol="0"><a:spAutoFit/></a:bodyPr>  <a:lstStyle/>  <a:p>   <a:pPr><a:defRPr sz="1400"/></a:pPr>   <a14:m>    <m:oMathPara>     <m:oMathParaPr><m:jc m:val="centerGroup"/></m:oMathParaPr>     <m:oMath><m:sSup><m:sSupPr><m:ctrlPr><a:rPr lang="en-US" i="1" sz="1400"><a:latin typeface="Cambria Math" panose="02040503050406030204" charset="0"/><a:cs typeface="Cambria Math" panose="02040503050406030204" charset="0"/></a:rPr></m:ctrlPr></m:sSupPr><m:e><m:r><a:rPr lang="en-US" i="1" sz="1400"><a:latin typeface="Cambria Math" panose="02040503050406030204" charset="0"/><a:cs typeface="Cambria Math" panose="02040503050406030204" charset="0"/></a:rPr><m:t xml:space="preserve">∇</m:t></m:r></m:e><m:sup><m:r><a:rPr lang="en-US" i="1" sz="1400"><a:latin typeface="Cambria Math" panose="02040503050406030204" charset="0"/><a:cs typeface="Cambria Math" panose="02040503050406030204" charset="0"/></a:rPr><m:t xml:space="preserve">2</m:t></m:r></m:sup></m:sSup><m:r><a:rPr lang="en-US" i="1" sz="1400"><a:latin typeface="Cambria Math" panose="02040503050406030204" charset="0"/><a:cs typeface="Cambria Math" panose="02040503050406030204" charset="0"/></a:rPr><m:t xml:space="preserve">f(𝐚)≻0</m:t></m:r><m:r><a:rPr lang="en-US" i="1" sz="1400"><a:latin typeface="Cambria Math" panose="02040503050406030204" charset="0"/><a:cs typeface="Cambria Math" panose="02040503050406030204" charset="0"/></a:rPr><m:t xml:space="preserve"> </m:t></m:r><m:r><a:rPr lang="en-US" i="1" sz="1400"><a:latin typeface="Cambria Math" panose="02040503050406030204" charset="0"/><a:cs typeface="Cambria Math" panose="02040503050406030204" charset="0"/></a:rPr><m:t xml:space="preserve">⟺</m:t></m:r><m:r><a:rPr lang="en-US" i="1" sz="1400"><a:latin typeface="Cambria Math" panose="02040503050406030204" charset="0"/><a:cs typeface="Cambria Math" panose="02040503050406030204" charset="0"/></a:rPr><m:t xml:space="preserve"> </m:t></m:r><m:sSub><m:sSubPr><m:ctrlPr><a:rPr lang="en-US" i="1" sz="1400"><a:latin typeface="Cambria Math" panose="02040503050406030204" charset="0"/><a:cs typeface="Cambria Math" panose="02040503050406030204" charset="0"/></a:rPr></m:ctrlPr></m:sSubPr><m:e><m:r><a:rPr lang="en-US" i="1" sz="1400"><a:latin typeface="Cambria Math" panose="02040503050406030204" charset="0"/><a:cs typeface="Cambria Math" panose="02040503050406030204" charset="0"/></a:rPr><m:t xml:space="preserve">λ</m:t></m:r></m:e><m:sub><m:r><a:rPr lang="en-US" i="1" sz="1400"><a:latin typeface="Cambria Math" panose="02040503050406030204" charset="0"/><a:cs typeface="Cambria Math" panose="02040503050406030204" charset="0"/></a:rPr><m:t xml:space="preserve">i</m:t></m:r></m:sub></m:sSub><m:r><a:rPr lang="en-US" i="1" sz="1400"><a:latin typeface="Cambria Math" panose="02040503050406030204" charset="0"/><a:cs typeface="Cambria Math" panose="02040503050406030204" charset="0"/></a:rPr><m:t xml:space="preserve">&gt;0</m:t></m:r></m:oMath>    </m:oMathPara>   </a14:m>  </a:p> </p:txBody></p:sp></mc:Choice><mc:Fallback><p:sp> <p:nvSpPr>  <p:cNvPr id="11" name="Formula 1"/>  <p:cNvSpPr/>  <p:nvPr/> </p:nvSpPr> <p:spPr>  <a:xfrm><a:off x="3474720" y="1965960"/><a:ext cx="2194560" cy="548640"/></a:xfrm>  <a:prstGeom prst="rect"><a:avLst/></a:prstGeom> </p:spPr> <p:txBody>  <a:bodyPr wrap="square" rtlCol="0"><a:spAutoFit/></a:bodyPr>  <a:lstStyle/>  <a:p><a:r><a:rPr lang="en-US" dirty="0"/><a:t>[Formula]</a:t></a:r></a:p> </p:txBody></p:sp></mc:Fallback></mc:AlternateContent><p:sp><p:nvSpPr><p:cNvPr id="12" name="Text 7"></p:cNvPr><p:cNvSpPr/><p:nvPr></p:nvPr></p:nvSpPr><p:spPr><a:xfrm><a:off x="6217920" y="1508760"/><a:ext cx="2194560" cy="448056"/></a:xfrm><a:prstGeom prst="rect"><a:avLst></a:avLst></a:prstGeom><a:noFill/><a:ln></a:ln></p:spPr><p:txBody><a:bodyPr wrap="square" lIns="91440" tIns="91440" rIns="91440" bIns="91440" rtlCol="0" anchor="t"><a:spAutoFit/></a:bodyPr><a:lstStyle/><a:p><a:pPr algn="ctr" indent="0" marL="0"><a:lnSpc><a:spcPct val="120000"/></a:lnSpc><a:spcBef><a:spcPts val="360"/></a:spcBef><a:buNone/></a:pPr><a:r><a:rPr lang="en-US" sz="1296" dirty="0"><a:solidFill><a:srgbClr val="9A3412"/></a:solidFill><a:latin typeface="Microsoft YaHei" pitchFamily="34" charset="0"/><a:ea typeface="Microsoft YaHei" pitchFamily="34" charset="-122"/><a:cs typeface="Microsoft YaHei" pitchFamily="34" charset="-120"/></a:rPr><a:t>梯度下降 (Gradient Descent)</a:t></a:r><a:endParaRPr lang="en-US" sz="1152" dirty="0"/></a:p></p:txBody></p:sp><p:sp><p:nvSpPr><p:cNvPr id="13" name="Text 8"></p:cNvPr><p:cNvSpPr/><p:nvPr></p:nvPr></p:nvSpPr><p:spPr><a:xfrm><a:off x="6217920" y="1965960"/><a:ext cx="2194560" cy="420624"/></a:xfrm><a:prstGeom prst="rect"><a:avLst></a:avLst></a:prstGeom><a:noFill/><a:ln></a:ln></p:spPr><p:txBody><a:bodyPr wrap="square" lIns="91440" tIns="91440" rIns="91440" bIns="91440" rtlCol="0" anchor="t"><a:spAutoFit/></a:bodyPr><a:lstStyle/><a:p><a:pPr algn="ctr" indent="0" marL="0"><a:lnSpc><a:spcPct val="120000"/></a:lnSpc><a:spcBef><a:spcPts val="360"/></a:spcBef><a:buNone/></a:pPr><a:r><a:rPr lang="en-US" sz="1152" dirty="0"><a:solidFill><a:srgbClr val="9A3412"/></a:solidFill><a:latin typeface="Microsoft YaHei" pitchFamily="34" charset="0"/><a:ea typeface="Microsoft YaHei" pitchFamily="34" charset="-122"/><a:cs typeface="Microsoft YaHei" pitchFamily="34" charset="-120"/></a:rPr><a:t>垂直于等高线 (Contours)</a:t></a:r><a:endParaRPr lang="en-US" sz="1152" dirty="0"/></a:p></p:txBody></p:sp><p:pic>  <p:nvPicPr><p:cNvPr id="14" name="Image 0" descr="preencoded.png">    </p:cNvPr>    <p:cNvPicPr><a:picLocks noChangeAspect="1"/></p:cNvPicPr>    <p:nvPr></p:nvPr>  </p:nvPicPr><p:blipFill><a:blip r:embed="rId1"></a:blip>  <a:stretch><a:fillRect/></a:stretch></p:blipFill><p:spPr> <a:xfrm>  <a:off x="3108960" y="2834640"/>  <a:ext cx="2926080" cy="1645920"/> </a:xfrm> <a:prstGeom prst="rect"><a:avLst/></a:prstGeom></p:spPr></p:pic><p:sp><p:nvSpPr><p:cNvPr id="15" name="Text 9"></p:cNvPr><p:cNvSpPr/><p:nvPr></p:nvPr></p:nvSpPr><p:spPr><a:xfrm><a:off x="548640" y="4572000"/><a:ext cx="8046720" cy="393192"/></a:xfrm><a:prstGeom prst="rect"><a:avLst></a:avLst></a:prstGeom><a:noFill/><a:ln></a:ln></p:spPr><p:txBody><a:bodyPr wrap="square" lIns="91440" tIns="91440" rIns="91440" bIns="91440" rtlCol="0" anchor="t"><a:spAutoFit/></a:bodyPr><a:lstStyle/><a:p><a:pPr algn="ctr" indent="0" marL="0"><a:lnSpc><a:spcPct val="120000"/></a:lnSpc><a:spcBef><a:spcPts val="360"/></a:spcBef><a:buNone/></a:pPr><a:r><a:rPr lang="en-US" sz="1008" dirty="0"><a:solidFill><a:srgbClr val="94A3B8"/></a:solidFill><a:latin typeface="Microsoft YaHei" pitchFamily="34" charset="0"/><a:ea typeface="Microsoft YaHei" pitchFamily="34" charset="-122"/><a:cs typeface="Microsoft YaHei" pitchFamily="34" charset="-120"/></a:rPr><a:t>核心知识点复盘：局部平面近似、Hessian 特征值与梯度几何方向</a:t></a:r><a:endParaRPr lang="en-US" sz="1152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2026-06-06T08:36:18Z</dcterms:created>
  <dcterms:modified xsi:type="dcterms:W3CDTF">2026-06-06T08:36:18Z</dcterms:modified>
</cp:coreProperties>
</file>